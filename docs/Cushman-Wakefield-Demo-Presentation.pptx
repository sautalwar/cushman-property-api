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 TITLE</a:t>
            </a:r>
          </a:p>
          <a:p/>
          <a:p>
            <a:r>
              <a:t>Before clicking to the next slide, pause and make eye contact with everyone in the room.</a:t>
            </a:r>
          </a:p>
          <a:p/>
          <a:p>
            <a:r>
              <a:t>SAY: "Thank you for having us. What I'm going to show you today is not a product pitch — it's a live demonstration of API vulnerabilities running in real code, and the automation that catches them before they ever reach production."</a:t>
            </a:r>
          </a:p>
          <a:p/>
          <a:p>
            <a:r>
              <a:t>"By the end of this session, I want you to walk out with a clear mental model of what your attack surface looks like today, and what it would look like with GitHub Advanced Security and Actions protecting your codebase."</a:t>
            </a:r>
          </a:p>
          <a:p/>
          <a:p>
            <a:r>
              <a:t>Pause 3 seconds. Then advance to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 THE PROBLEM</a:t>
            </a:r>
          </a:p>
          <a:p/>
          <a:p>
            <a:r>
              <a:t>SAY: "Let me put some numbers on this. $4.45 million — that's the average cost of a data breach according to IBM's 2023 study. Not a catastrophic breach. An average one."</a:t>
            </a:r>
          </a:p>
          <a:p/>
          <a:p>
            <a:r>
              <a:t>"83% of breaches involve an external API. Not an internal system, not a database — an API that your development team built and deployed."</a:t>
            </a:r>
          </a:p>
          <a:p/>
          <a:p>
            <a:r>
              <a:t>"And here's the one that should worry every engineering director in this room: the average vulnerability sits in production for 14 months before anyone finds it. Your quarterly pen test? That's 4 detection opportunities per year. With GitHub Actions, it's 96 detection opportunities per day."</a:t>
            </a:r>
          </a:p>
          <a:p/>
          <a:p>
            <a:r>
              <a:t>"BOLA — Broken Object Level Authorization — has been the #1 API vulnerability in the OWASP API Security Top 10 for the last two editions. It's also one of the easiest to accidentally introduce and one of the hardest to find with traditional scanning tools."</a:t>
            </a:r>
          </a:p>
          <a:p/>
          <a:p>
            <a:r>
              <a:t>Transition: "Let me show you PropTracker — our demo app that has all 10 of these vulnerabilities built in intentionally." → advance to slide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 ARCHITECTURE</a:t>
            </a:r>
          </a:p>
          <a:p/>
          <a:p>
            <a:r>
              <a:t>SAY: "PropTracker is a three-tier application — React frontend, Node.js/TypeScript API, PostgreSQL database. This is a realistic stack — it mirrors what a modern property management platform would look like."</a:t>
            </a:r>
          </a:p>
          <a:p/>
          <a:p>
            <a:r>
              <a:t>"The frontend has a Vulnerability Dashboard with 10 cards, one per OWASP API Security category. Each card has two buttons: Run Exploit — which fires the actual vulnerable HTTP request right now — and View Workflow — which shows the GitHub Actions YAML that detects it."</a:t>
            </a:r>
          </a:p>
          <a:p/>
          <a:p>
            <a:r>
              <a:t>"The API is TypeScript/Express with JWT authentication. Each vulnerability is marked with a VULN comment in the code — VULN-1 through VULN-10 — so when we look at the code, it's immediately obvious where the vulnerability is."</a:t>
            </a:r>
          </a:p>
          <a:p/>
          <a:p>
            <a:r>
              <a:t>"Let me switch to the live app." → Navigate to localhost:5175, advance to slide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 THE 10 VULNERABILITIES</a:t>
            </a:r>
          </a:p>
          <a:p/>
          <a:p>
            <a:r>
              <a:t>SAY: "Here are the 10 vulnerabilities we've built into PropTracker. Every single one of these maps to a real OWASP API Security category — the exact same categories your team's APIs could be vulnerable to right now."</a:t>
            </a:r>
          </a:p>
          <a:p/>
          <a:p>
            <a:r>
              <a:t>"I want to call out a few:"</a:t>
            </a:r>
          </a:p>
          <a:p/>
          <a:p>
            <a:r>
              <a:t>"VULN-1 BOLA — Broken Object Level Authorization. This is the most common critical API vulnerability. A logged-in user can access another user's private data just by changing an ID in the URL. No brute force, no special tools."</a:t>
            </a:r>
          </a:p>
          <a:p/>
          <a:p>
            <a:r>
              <a:t>"VULN-8 SQL Injection — Your search endpoint passes user input directly into a SQL query. One crafted search term and the attacker gets every record in your database."</a:t>
            </a:r>
          </a:p>
          <a:p/>
          <a:p>
            <a:r>
              <a:t>"VULN-10 SSRF — Server-Side Request Forgery. Your webhook endpoint will fetch any URL the user provides. If you're on Azure, that means the attacker can hit the Azure Instance Metadata Service and steal your managed identity credentials."</a:t>
            </a:r>
          </a:p>
          <a:p/>
          <a:p>
            <a:r>
              <a:t>"Let me run these live." → Switch to app, click Run Exploit on BOLA, advance to slide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5: BOLA LIVE DEMO</a:t>
            </a:r>
          </a:p>
          <a:p/>
          <a:p>
            <a:r>
              <a:t>ACTION: Click "Run Exploit" on the BOLA card in the dashboard. Wait for the result to appear.</a:t>
            </a:r>
          </a:p>
          <a:p/>
          <a:p>
            <a:r>
              <a:t>SAY: "Look at this. Bob is a fully authenticated user — valid JWT, logged in through the normal login flow. He's making a GET request to a specific job ID. That job belongs to Alice. The server has no idea this is wrong — it returns HTTP 200 and the full job record."</a:t>
            </a:r>
          </a:p>
          <a:p/>
          <a:p>
            <a:r>
              <a:t>"There's no error. No audit log entry. No security alert. This happens silently."</a:t>
            </a:r>
          </a:p>
          <a:p/>
          <a:p>
            <a:r>
              <a:t>"In Cushman's context, this isn't a job record. This is a lease agreement. A contractor's insurance certificate. A property inspection report. Any authenticated user in your system could be reading any other user's documents right now."</a:t>
            </a:r>
          </a:p>
          <a:p/>
          <a:p>
            <a:r>
              <a:t>"The fix is a single if statement: check that the requesting user owns the resource before returning it. That's it. Three lines of code. But it's easy to forget, and your existing tests don't catch it."</a:t>
            </a:r>
          </a:p>
          <a:p/>
          <a:p>
            <a:r>
              <a:t>Click "View Workflow" → show the YAML with red-highlighted detection lines → advance to slide 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6: GITHUB ACTIONS DETECTION</a:t>
            </a:r>
          </a:p>
          <a:p/>
          <a:p>
            <a:r>
              <a:t>ACTION: Switch to GitHub Actions tab in browser. Open the most recent check-bola.yml run.</a:t>
            </a:r>
          </a:p>
          <a:p/>
          <a:p>
            <a:r>
              <a:t>SAY: "This is the workflow that caught the BOLA vulnerability we just demonstrated. Let me walk you through what it does."</a:t>
            </a:r>
          </a:p>
          <a:p/>
          <a:p>
            <a:r>
              <a:t>"Step 1: It logs in as Alice — the victim — and gets her JWT. Step 2: It logs in as Bob — the attacker — and gets his JWT. Step 3: Bob makes a GET request to Alice's job using his token. Step 4: It checks the HTTP status code."</a:t>
            </a:r>
          </a:p>
          <a:p/>
          <a:p>
            <a:r>
              <a:t>"If the response is 200 — which it is right now — the workflow fires this line." Point to the red ::error:: line.</a:t>
            </a:r>
          </a:p>
          <a:p/>
          <a:p>
            <a:r>
              <a:t>"::error:: VULN-1 CONFIRMED: BOLA vulnerability detected. GitHub immediately marks this run as failed and creates a workflow annotation visible to every developer on the team."</a:t>
            </a:r>
          </a:p>
          <a:p/>
          <a:p>
            <a:r>
              <a:t>"This runs every 15 minutes. Day and night. Without anyone pressing a button."</a:t>
            </a:r>
          </a:p>
          <a:p/>
          <a:p>
            <a:r>
              <a:t>"How often does your team currently run a security scan against your production API? Once a quarter? GitHub Actions is running 96 security probes per day."</a:t>
            </a:r>
          </a:p>
          <a:p/>
          <a:p>
            <a:r>
              <a:t>→ advance to slide 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7: GHAS DEEP DIVE</a:t>
            </a:r>
          </a:p>
          <a:p/>
          <a:p>
            <a:r>
              <a:t>ACTION: Open the GitHub Security tab for the repo.</a:t>
            </a:r>
          </a:p>
          <a:p/>
          <a:p>
            <a:r>
              <a:t>SAY: "Beyond the custom behavioral workflows, GitHub Advanced Security gives you three more layers."</a:t>
            </a:r>
          </a:p>
          <a:p/>
          <a:p>
            <a:r>
              <a:t>"Code Scanning with CodeQL — this is GitHub's static analysis engine. It's not a pattern matcher. It builds a semantic model of your entire codebase and reasons about data flow. It knows that req.query.q flows into a SQL string without sanitization — and it tells you exactly which line and exactly how to fix it."</a:t>
            </a:r>
          </a:p>
          <a:p/>
          <a:p>
            <a:r>
              <a:t>"Secret Scanning — this one pays for itself instantly. We've all had that moment where someone accidentally commits a database password or an API key. Secret scanning catches it within 30 seconds of the push, before any attacker can use it. And for AWS and Azure credentials, we notify the provider who revokes the key automatically."</a:t>
            </a:r>
          </a:p>
          <a:p/>
          <a:p>
            <a:r>
              <a:t>"Dependency Review — Log4Shell happened because organizations didn't know they had log4j as a transitive dependency. GitHub's dependency graph tracks every package in your supply chain. When Log4Shell was published, Dependabot alerts went out to affected repos within 13 minutes of the CVE."</a:t>
            </a:r>
          </a:p>
          <a:p/>
          <a:p>
            <a:r>
              <a:t>→ advance to slide 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8: COPILOT AUTOFIX</a:t>
            </a:r>
          </a:p>
          <a:p/>
          <a:p>
            <a:r>
              <a:t>ACTION: Open a PR in GitHub that has a Copilot Autofix suggestion on it.</a:t>
            </a:r>
          </a:p>
          <a:p/>
          <a:p>
            <a:r>
              <a:t>SAY: "Here's where this gets genuinely exciting. You've seen that GitHub finds the vulnerability. But finding it is only half the battle — you still have to fix it. And fixing security vulnerabilities requires security expertise that most developers don't have."</a:t>
            </a:r>
          </a:p>
          <a:p/>
          <a:p>
            <a:r>
              <a:t>"This is the traditional pattern: scanner finds vulnerability, creates a ticket, developer opens the ticket and doesn't understand what 'unsanitized input reaches SQL sink' means, ticket sits in the backlog for 6 weeks, vulnerability window stays open."</a:t>
            </a:r>
          </a:p>
          <a:p/>
          <a:p>
            <a:r>
              <a:t>"Copilot Autofix breaks that pattern. Look at this PR." Point to the Copilot suggestion inline.</a:t>
            </a:r>
          </a:p>
          <a:p/>
          <a:p>
            <a:r>
              <a:t>"Copilot analyzed the data flow — it knows that req.query.q flows into the SQL string. It generated a parameterized query fix. Right here, in the PR, with an explanation of what changed and why. The developer doesn't need to know what a parameterized query is. They read the explanation, check that it looks right, and click Accept."</a:t>
            </a:r>
          </a:p>
          <a:p/>
          <a:p>
            <a:r>
              <a:t>"Our research: Copilot Autofix reduces mean time to remediate security vulnerabilities by 60%. For a team shipping code weekly, that's the difference between a 4-week vulnerability window and a same-day fix."</a:t>
            </a:r>
          </a:p>
          <a:p/>
          <a:p>
            <a:r>
              <a:t>"Zero security expertise required." Pause 4 seconds.</a:t>
            </a:r>
          </a:p>
          <a:p/>
          <a:p>
            <a:r>
              <a:t>→ advance to slide 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9: ROI SUMMARY</a:t>
            </a:r>
          </a:p>
          <a:p/>
          <a:p>
            <a:r>
              <a:t>SAY: "Let me put this in business terms."</a:t>
            </a:r>
          </a:p>
          <a:p/>
          <a:p>
            <a:r>
              <a:t>"Without GitHub: your security posture depends on a quarterly pen test and manual code reviews. Vulnerabilities sit in production for 3 to 18 months on average. When you find them, it takes a dedicated security team 4 to 8 weeks to understand, prioritize, and fix them."</a:t>
            </a:r>
          </a:p>
          <a:p/>
          <a:p>
            <a:r>
              <a:t>"With GitHub Actions and GHAS: vulnerabilities are detected in minutes — not months. Copilot Autofix cuts remediation time by 60%. Any developer can fix a security issue without needing a security certification."</a:t>
            </a:r>
          </a:p>
          <a:p/>
          <a:p>
            <a:r>
              <a:t>"Forrester's Total Economic Impact study found 234% ROI over 3 years for a 500-developer organization. Payback in under 6 months."</a:t>
            </a:r>
          </a:p>
          <a:p/>
          <a:p>
            <a:r>
              <a:t>"The question I want to leave you with is this: what's the cost of a single breach at Cushman &amp; Wakefield? Lease data, contractor PII, property valuations — what would that cost you in GDPR fines, legal fees, customer notification, and reputational damage? If GHAS prevents one of those in the next 3 years, it's paid for itself many times over."</a:t>
            </a:r>
          </a:p>
          <a:p/>
          <a:p>
            <a:r>
              <a:t>→ advance to slide 10.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10: NEXT STEPS</a:t>
            </a:r>
          </a:p>
          <a:p/>
          <a:p>
            <a:r>
              <a:t>SAY: "Here's how we go from what you saw today to real protection on your actual codebase."</a:t>
            </a:r>
          </a:p>
          <a:p/>
          <a:p>
            <a:r>
              <a:t>"Option 1: GHAS Trial. Thirty days, free, on whatever repo matters most to you. I can have it set up by end of week — it's literally enabling a checkbox in your repo settings and adding 5 lines to your CI workflow. You'll have your first CodeQL results within the hour."</a:t>
            </a:r>
          </a:p>
          <a:p/>
          <a:p>
            <a:r>
              <a:t>"Option 2: We take the 10 PropTracker workflows and rewrite them for your API. Your endpoints, your authentication scheme, your business logic. One sprint. You end up with behavioral security monitoring running on your actual codebase."</a:t>
            </a:r>
          </a:p>
          <a:p/>
          <a:p>
            <a:r>
              <a:t>"Option 3: If you want to understand your current risk profile first, our Solutions Architect team will audit your repos and tell you what GHAS would have caught in the last 6 months. It's a 1-week engagement."</a:t>
            </a:r>
          </a:p>
          <a:p/>
          <a:p>
            <a:r>
              <a:t>"Which of these makes the most sense to start with?" </a:t>
            </a:r>
          </a:p>
          <a:p/>
          <a:p>
            <a:r>
              <a:t>Pause and let them respond. Don't fill the silence. The answer tells you exactly where to focus the follow-up.</a:t>
            </a:r>
          </a:p>
          <a:p/>
          <a:p>
            <a:r>
              <a:t>CLOSING LINE: "The gap between your current API security posture and GitHub's automated protection is one conversation away from closing. Let's close it."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88952" cy="7315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
            <a:ext cx="10058400" cy="457200"/>
          </a:xfrm>
          <a:prstGeom prst="rect">
            <a:avLst/>
          </a:prstGeom>
          <a:noFill/>
        </p:spPr>
        <p:txBody>
          <a:bodyPr wrap="square">
            <a:spAutoFit/>
          </a:bodyPr>
          <a:lstStyle/>
          <a:p>
            <a:pPr algn="ctr"/>
            <a:r>
              <a:rPr sz="1100" b="0">
                <a:solidFill>
                  <a:srgbClr val="8B949E"/>
                </a:solidFill>
              </a:rPr>
              <a:t>CUSHMAN &amp; WAKEFIELD  ·  GITHUB SOLUTIONS ENGINEERING</a:t>
            </a:r>
          </a:p>
        </p:txBody>
      </p:sp>
      <p:sp>
        <p:nvSpPr>
          <p:cNvPr id="5" name="TextBox 4"/>
          <p:cNvSpPr txBox="1"/>
          <p:nvPr/>
        </p:nvSpPr>
        <p:spPr>
          <a:xfrm>
            <a:off x="914400" y="1097280"/>
            <a:ext cx="10058400" cy="1097280"/>
          </a:xfrm>
          <a:prstGeom prst="rect">
            <a:avLst/>
          </a:prstGeom>
          <a:noFill/>
        </p:spPr>
        <p:txBody>
          <a:bodyPr wrap="square">
            <a:spAutoFit/>
          </a:bodyPr>
          <a:lstStyle/>
          <a:p>
            <a:pPr algn="ctr"/>
            <a:r>
              <a:rPr sz="3600" b="1">
                <a:solidFill>
                  <a:srgbClr val="388BFD"/>
                </a:solidFill>
              </a:rPr>
              <a:t>GitHub Advanced Security &amp; Actions</a:t>
            </a:r>
          </a:p>
        </p:txBody>
      </p:sp>
      <p:sp>
        <p:nvSpPr>
          <p:cNvPr id="6" name="TextBox 5"/>
          <p:cNvSpPr txBox="1"/>
          <p:nvPr/>
        </p:nvSpPr>
        <p:spPr>
          <a:xfrm>
            <a:off x="914400" y="2286000"/>
            <a:ext cx="10058400" cy="914400"/>
          </a:xfrm>
          <a:prstGeom prst="rect">
            <a:avLst/>
          </a:prstGeom>
          <a:noFill/>
        </p:spPr>
        <p:txBody>
          <a:bodyPr wrap="square">
            <a:spAutoFit/>
          </a:bodyPr>
          <a:lstStyle/>
          <a:p>
            <a:pPr algn="ctr"/>
            <a:r>
              <a:rPr sz="5400" b="1">
                <a:solidFill>
                  <a:srgbClr val="FFFFFF"/>
                </a:solidFill>
              </a:rPr>
              <a:t>Proactive API Security Demo</a:t>
            </a:r>
          </a:p>
        </p:txBody>
      </p:sp>
      <p:sp>
        <p:nvSpPr>
          <p:cNvPr id="7" name="TextBox 6"/>
          <p:cNvSpPr txBox="1"/>
          <p:nvPr/>
        </p:nvSpPr>
        <p:spPr>
          <a:xfrm>
            <a:off x="914400" y="3383280"/>
            <a:ext cx="10058400" cy="457200"/>
          </a:xfrm>
          <a:prstGeom prst="rect">
            <a:avLst/>
          </a:prstGeom>
          <a:noFill/>
        </p:spPr>
        <p:txBody>
          <a:bodyPr wrap="square">
            <a:spAutoFit/>
          </a:bodyPr>
          <a:lstStyle/>
          <a:p>
            <a:pPr algn="ctr"/>
            <a:r>
              <a:rPr sz="1600" b="0">
                <a:solidFill>
                  <a:srgbClr val="8B949E"/>
                </a:solidFill>
              </a:rPr>
              <a:t>PropTracker · OWASP API Top 10 · GitHub Actions · GHAS · Copilot Autofix</a:t>
            </a:r>
          </a:p>
        </p:txBody>
      </p:sp>
      <p:sp>
        <p:nvSpPr>
          <p:cNvPr id="8" name="TextBox 7"/>
          <p:cNvSpPr txBox="1"/>
          <p:nvPr/>
        </p:nvSpPr>
        <p:spPr>
          <a:xfrm>
            <a:off x="914400" y="4114800"/>
            <a:ext cx="10058400" cy="365760"/>
          </a:xfrm>
          <a:prstGeom prst="rect">
            <a:avLst/>
          </a:prstGeom>
          <a:noFill/>
        </p:spPr>
        <p:txBody>
          <a:bodyPr wrap="square">
            <a:spAutoFit/>
          </a:bodyPr>
          <a:lstStyle/>
          <a:p>
            <a:pPr algn="ctr"/>
            <a:r>
              <a:rPr sz="1400" b="0">
                <a:solidFill>
                  <a:srgbClr val="8B949E"/>
                </a:solidFill>
              </a:rPr>
              <a:t>60-Minute Live Demo  ·  45 min demo + 15 min Q&amp;A</a:t>
            </a:r>
          </a:p>
        </p:txBody>
      </p:sp>
      <p:sp>
        <p:nvSpPr>
          <p:cNvPr id="9" name="Rectangle 8"/>
          <p:cNvSpPr/>
          <p:nvPr/>
        </p:nvSpPr>
        <p:spPr>
          <a:xfrm>
            <a:off x="3657600" y="4754880"/>
            <a:ext cx="4873752" cy="5486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A3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r>
              <a:rPr sz="3200" b="1">
                <a:solidFill>
                  <a:srgbClr val="FFFFFF"/>
                </a:solidFill>
              </a:rPr>
              <a:t>The Problem: APIs Are the #1 Attack Surface</a:t>
            </a:r>
          </a:p>
        </p:txBody>
      </p:sp>
      <p:sp>
        <p:nvSpPr>
          <p:cNvPr id="4" name="TextBox 3"/>
          <p:cNvSpPr txBox="1"/>
          <p:nvPr/>
        </p:nvSpPr>
        <p:spPr>
          <a:xfrm>
            <a:off x="457200" y="1188720"/>
            <a:ext cx="10972800" cy="365760"/>
          </a:xfrm>
          <a:prstGeom prst="rect">
            <a:avLst/>
          </a:prstGeom>
          <a:noFill/>
        </p:spPr>
        <p:txBody>
          <a:bodyPr wrap="square">
            <a:spAutoFit/>
          </a:bodyPr>
          <a:lstStyle/>
          <a:p>
            <a:pPr algn="l"/>
            <a:r>
              <a:rPr sz="1800" b="0">
                <a:solidFill>
                  <a:srgbClr val="8B949E"/>
                </a:solidFill>
              </a:rPr>
              <a:t>And most organizations don't know their APIs are vulnerable until it's too late.</a:t>
            </a:r>
          </a:p>
        </p:txBody>
      </p:sp>
      <p:sp>
        <p:nvSpPr>
          <p:cNvPr id="5" name="Rectangle 4"/>
          <p:cNvSpPr/>
          <p:nvPr/>
        </p:nvSpPr>
        <p:spPr>
          <a:xfrm>
            <a:off x="457200" y="1828800"/>
            <a:ext cx="2651760" cy="25603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2468880" cy="914400"/>
          </a:xfrm>
          <a:prstGeom prst="rect">
            <a:avLst/>
          </a:prstGeom>
          <a:noFill/>
        </p:spPr>
        <p:txBody>
          <a:bodyPr wrap="square">
            <a:spAutoFit/>
          </a:bodyPr>
          <a:lstStyle/>
          <a:p>
            <a:pPr algn="ctr"/>
            <a:r>
              <a:rPr sz="2800" b="1">
                <a:solidFill>
                  <a:srgbClr val="DA3633"/>
                </a:solidFill>
              </a:rPr>
              <a:t>$4.45M</a:t>
            </a:r>
          </a:p>
        </p:txBody>
      </p:sp>
      <p:sp>
        <p:nvSpPr>
          <p:cNvPr id="7" name="TextBox 6"/>
          <p:cNvSpPr txBox="1"/>
          <p:nvPr/>
        </p:nvSpPr>
        <p:spPr>
          <a:xfrm>
            <a:off x="548640" y="2743200"/>
            <a:ext cx="2468880" cy="822960"/>
          </a:xfrm>
          <a:prstGeom prst="rect">
            <a:avLst/>
          </a:prstGeom>
          <a:noFill/>
        </p:spPr>
        <p:txBody>
          <a:bodyPr wrap="square">
            <a:spAutoFit/>
          </a:bodyPr>
          <a:lstStyle/>
          <a:p>
            <a:pPr algn="ctr"/>
            <a:r>
              <a:rPr sz="1300" b="0">
                <a:solidFill>
                  <a:srgbClr val="8B949E"/>
                </a:solidFill>
              </a:rPr>
              <a:t>Average cost of
a data breach
(IBM 2023)</a:t>
            </a:r>
          </a:p>
        </p:txBody>
      </p:sp>
      <p:sp>
        <p:nvSpPr>
          <p:cNvPr id="8" name="Rectangle 7"/>
          <p:cNvSpPr/>
          <p:nvPr/>
        </p:nvSpPr>
        <p:spPr>
          <a:xfrm>
            <a:off x="3291840" y="1828800"/>
            <a:ext cx="2651760" cy="25603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1920240"/>
            <a:ext cx="2468880" cy="914400"/>
          </a:xfrm>
          <a:prstGeom prst="rect">
            <a:avLst/>
          </a:prstGeom>
          <a:noFill/>
        </p:spPr>
        <p:txBody>
          <a:bodyPr wrap="square">
            <a:spAutoFit/>
          </a:bodyPr>
          <a:lstStyle/>
          <a:p>
            <a:pPr algn="ctr"/>
            <a:r>
              <a:rPr sz="2800" b="1">
                <a:solidFill>
                  <a:srgbClr val="D29922"/>
                </a:solidFill>
              </a:rPr>
              <a:t>83%</a:t>
            </a:r>
          </a:p>
        </p:txBody>
      </p:sp>
      <p:sp>
        <p:nvSpPr>
          <p:cNvPr id="10" name="TextBox 9"/>
          <p:cNvSpPr txBox="1"/>
          <p:nvPr/>
        </p:nvSpPr>
        <p:spPr>
          <a:xfrm>
            <a:off x="3383280" y="2743200"/>
            <a:ext cx="2468880" cy="822960"/>
          </a:xfrm>
          <a:prstGeom prst="rect">
            <a:avLst/>
          </a:prstGeom>
          <a:noFill/>
        </p:spPr>
        <p:txBody>
          <a:bodyPr wrap="square">
            <a:spAutoFit/>
          </a:bodyPr>
          <a:lstStyle/>
          <a:p>
            <a:pPr algn="ctr"/>
            <a:r>
              <a:rPr sz="1300" b="0">
                <a:solidFill>
                  <a:srgbClr val="8B949E"/>
                </a:solidFill>
              </a:rPr>
              <a:t>Of breaches involve
external APIs
(Gartner)</a:t>
            </a:r>
          </a:p>
        </p:txBody>
      </p:sp>
      <p:sp>
        <p:nvSpPr>
          <p:cNvPr id="11" name="Rectangle 10"/>
          <p:cNvSpPr/>
          <p:nvPr/>
        </p:nvSpPr>
        <p:spPr>
          <a:xfrm>
            <a:off x="6126480" y="1828800"/>
            <a:ext cx="2651760" cy="25603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920240"/>
            <a:ext cx="2468880" cy="914400"/>
          </a:xfrm>
          <a:prstGeom prst="rect">
            <a:avLst/>
          </a:prstGeom>
          <a:noFill/>
        </p:spPr>
        <p:txBody>
          <a:bodyPr wrap="square">
            <a:spAutoFit/>
          </a:bodyPr>
          <a:lstStyle/>
          <a:p>
            <a:pPr algn="ctr"/>
            <a:r>
              <a:rPr sz="2800" b="1">
                <a:solidFill>
                  <a:srgbClr val="8957E5"/>
                </a:solidFill>
              </a:rPr>
              <a:t>14 months</a:t>
            </a:r>
          </a:p>
        </p:txBody>
      </p:sp>
      <p:sp>
        <p:nvSpPr>
          <p:cNvPr id="13" name="TextBox 12"/>
          <p:cNvSpPr txBox="1"/>
          <p:nvPr/>
        </p:nvSpPr>
        <p:spPr>
          <a:xfrm>
            <a:off x="6217920" y="2743200"/>
            <a:ext cx="2468880" cy="822960"/>
          </a:xfrm>
          <a:prstGeom prst="rect">
            <a:avLst/>
          </a:prstGeom>
          <a:noFill/>
        </p:spPr>
        <p:txBody>
          <a:bodyPr wrap="square">
            <a:spAutoFit/>
          </a:bodyPr>
          <a:lstStyle/>
          <a:p>
            <a:pPr algn="ctr"/>
            <a:r>
              <a:rPr sz="1300" b="0">
                <a:solidFill>
                  <a:srgbClr val="8B949E"/>
                </a:solidFill>
              </a:rPr>
              <a:t>Average time a
vuln sits in prod
before detection</a:t>
            </a:r>
          </a:p>
        </p:txBody>
      </p:sp>
      <p:sp>
        <p:nvSpPr>
          <p:cNvPr id="14" name="Rectangle 13"/>
          <p:cNvSpPr/>
          <p:nvPr/>
        </p:nvSpPr>
        <p:spPr>
          <a:xfrm>
            <a:off x="8961120" y="1828800"/>
            <a:ext cx="2651760" cy="25603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60" y="1920240"/>
            <a:ext cx="2468880" cy="914400"/>
          </a:xfrm>
          <a:prstGeom prst="rect">
            <a:avLst/>
          </a:prstGeom>
          <a:noFill/>
        </p:spPr>
        <p:txBody>
          <a:bodyPr wrap="square">
            <a:spAutoFit/>
          </a:bodyPr>
          <a:lstStyle/>
          <a:p>
            <a:pPr algn="ctr"/>
            <a:r>
              <a:rPr sz="2800" b="1">
                <a:solidFill>
                  <a:srgbClr val="1F6FEB"/>
                </a:solidFill>
              </a:rPr>
              <a:t>OWASP
API Top 10</a:t>
            </a:r>
          </a:p>
        </p:txBody>
      </p:sp>
      <p:sp>
        <p:nvSpPr>
          <p:cNvPr id="16" name="TextBox 15"/>
          <p:cNvSpPr txBox="1"/>
          <p:nvPr/>
        </p:nvSpPr>
        <p:spPr>
          <a:xfrm>
            <a:off x="9052560" y="2743200"/>
            <a:ext cx="2468880" cy="822960"/>
          </a:xfrm>
          <a:prstGeom prst="rect">
            <a:avLst/>
          </a:prstGeom>
          <a:noFill/>
        </p:spPr>
        <p:txBody>
          <a:bodyPr wrap="square">
            <a:spAutoFit/>
          </a:bodyPr>
          <a:lstStyle/>
          <a:p>
            <a:pPr algn="ctr"/>
            <a:r>
              <a:rPr sz="1300" b="0">
                <a:solidFill>
                  <a:srgbClr val="8B949E"/>
                </a:solidFill>
              </a:rPr>
              <a:t>BOLA is the #1
API vulnerability
(2023 edition)</a:t>
            </a:r>
          </a:p>
        </p:txBody>
      </p:sp>
      <p:sp>
        <p:nvSpPr>
          <p:cNvPr id="17" name="TextBox 16"/>
          <p:cNvSpPr txBox="1"/>
          <p:nvPr/>
        </p:nvSpPr>
        <p:spPr>
          <a:xfrm>
            <a:off x="457200" y="4663440"/>
            <a:ext cx="10972800" cy="457200"/>
          </a:xfrm>
          <a:prstGeom prst="rect">
            <a:avLst/>
          </a:prstGeom>
          <a:noFill/>
        </p:spPr>
        <p:txBody>
          <a:bodyPr wrap="square">
            <a:spAutoFit/>
          </a:bodyPr>
          <a:lstStyle/>
          <a:p>
            <a:pPr algn="ctr"/>
            <a:r>
              <a:rPr sz="1800" b="1">
                <a:solidFill>
                  <a:srgbClr val="388BFD"/>
                </a:solidFill>
              </a:rPr>
              <a:t>Today: we make these risks tangible — running live in PropTracker.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r>
              <a:rPr sz="3200" b="1">
                <a:solidFill>
                  <a:srgbClr val="FFFFFF"/>
                </a:solidFill>
              </a:rPr>
              <a:t>PropTracker: The Demo Platform</a:t>
            </a:r>
          </a:p>
        </p:txBody>
      </p:sp>
      <p:sp>
        <p:nvSpPr>
          <p:cNvPr id="4" name="TextBox 3"/>
          <p:cNvSpPr txBox="1"/>
          <p:nvPr/>
        </p:nvSpPr>
        <p:spPr>
          <a:xfrm>
            <a:off x="457200" y="914400"/>
            <a:ext cx="10972800" cy="365760"/>
          </a:xfrm>
          <a:prstGeom prst="rect">
            <a:avLst/>
          </a:prstGeom>
          <a:noFill/>
        </p:spPr>
        <p:txBody>
          <a:bodyPr wrap="square">
            <a:spAutoFit/>
          </a:bodyPr>
          <a:lstStyle/>
          <a:p>
            <a:pPr algn="l"/>
            <a:r>
              <a:rPr sz="1600" b="0">
                <a:solidFill>
                  <a:srgbClr val="8B949E"/>
                </a:solidFill>
              </a:rPr>
              <a:t>A realistic property management API — deliberately vulnerable — mirroring Cushman's stack</a:t>
            </a:r>
          </a:p>
        </p:txBody>
      </p:sp>
      <p:sp>
        <p:nvSpPr>
          <p:cNvPr id="5" name="Rectangle 4"/>
          <p:cNvSpPr/>
          <p:nvPr/>
        </p:nvSpPr>
        <p:spPr>
          <a:xfrm>
            <a:off x="457200" y="1554480"/>
            <a:ext cx="3200400" cy="29260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554480"/>
            <a:ext cx="3200400" cy="4572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00200"/>
            <a:ext cx="3017520" cy="411480"/>
          </a:xfrm>
          <a:prstGeom prst="rect">
            <a:avLst/>
          </a:prstGeom>
          <a:noFill/>
        </p:spPr>
        <p:txBody>
          <a:bodyPr wrap="square">
            <a:spAutoFit/>
          </a:bodyPr>
          <a:lstStyle/>
          <a:p>
            <a:pPr algn="l"/>
            <a:r>
              <a:rPr sz="1400" b="1">
                <a:solidFill>
                  <a:srgbClr val="FFFFFF"/>
                </a:solidFill>
              </a:rPr>
              <a:t>React Frontend
(Vite + TypeScript)</a:t>
            </a:r>
          </a:p>
        </p:txBody>
      </p:sp>
      <p:sp>
        <p:nvSpPr>
          <p:cNvPr id="8" name="TextBox 7"/>
          <p:cNvSpPr txBox="1"/>
          <p:nvPr/>
        </p:nvSpPr>
        <p:spPr>
          <a:xfrm>
            <a:off x="548640" y="2103120"/>
            <a:ext cx="3017520" cy="2194560"/>
          </a:xfrm>
          <a:prstGeom prst="rect">
            <a:avLst/>
          </a:prstGeom>
          <a:noFill/>
        </p:spPr>
        <p:txBody>
          <a:bodyPr wrap="square">
            <a:spAutoFit/>
          </a:bodyPr>
          <a:lstStyle/>
          <a:p>
            <a:pPr algn="l"/>
            <a:r>
              <a:rPr sz="1100" b="0">
                <a:solidFill>
                  <a:srgbClr val="8B949E"/>
                </a:solidFill>
              </a:rPr>
              <a:t>• Vulnerability Dashboard
• 10 exploit buttons
• Live workflow viewer
• Color-coded YAML</a:t>
            </a:r>
          </a:p>
        </p:txBody>
      </p:sp>
      <p:sp>
        <p:nvSpPr>
          <p:cNvPr id="9" name="Rectangle 8"/>
          <p:cNvSpPr/>
          <p:nvPr/>
        </p:nvSpPr>
        <p:spPr>
          <a:xfrm>
            <a:off x="4023360" y="1554480"/>
            <a:ext cx="4114800" cy="29260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023360" y="1554480"/>
            <a:ext cx="4114800" cy="457200"/>
          </a:xfrm>
          <a:prstGeom prst="rect">
            <a:avLst/>
          </a:prstGeom>
          <a:solidFill>
            <a:srgbClr val="2EA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0" y="1600200"/>
            <a:ext cx="3931920" cy="411480"/>
          </a:xfrm>
          <a:prstGeom prst="rect">
            <a:avLst/>
          </a:prstGeom>
          <a:noFill/>
        </p:spPr>
        <p:txBody>
          <a:bodyPr wrap="square">
            <a:spAutoFit/>
          </a:bodyPr>
          <a:lstStyle/>
          <a:p>
            <a:pPr algn="l"/>
            <a:r>
              <a:rPr sz="1400" b="1">
                <a:solidFill>
                  <a:srgbClr val="FFFFFF"/>
                </a:solidFill>
              </a:rPr>
              <a:t>Node.js API
(TypeScript + Express)</a:t>
            </a:r>
          </a:p>
        </p:txBody>
      </p:sp>
      <p:sp>
        <p:nvSpPr>
          <p:cNvPr id="12" name="TextBox 11"/>
          <p:cNvSpPr txBox="1"/>
          <p:nvPr/>
        </p:nvSpPr>
        <p:spPr>
          <a:xfrm>
            <a:off x="4114800" y="2103120"/>
            <a:ext cx="3931920" cy="2194560"/>
          </a:xfrm>
          <a:prstGeom prst="rect">
            <a:avLst/>
          </a:prstGeom>
          <a:noFill/>
        </p:spPr>
        <p:txBody>
          <a:bodyPr wrap="square">
            <a:spAutoFit/>
          </a:bodyPr>
          <a:lstStyle/>
          <a:p>
            <a:pPr algn="l"/>
            <a:r>
              <a:rPr sz="1100" b="0">
                <a:solidFill>
                  <a:srgbClr val="8B949E"/>
                </a:solidFill>
              </a:rPr>
              <a:t>• JWT Authentication
• 9 REST endpoints
• 10 injected vulns
• OWASP Top 10</a:t>
            </a:r>
          </a:p>
        </p:txBody>
      </p:sp>
      <p:sp>
        <p:nvSpPr>
          <p:cNvPr id="13" name="Rectangle 12"/>
          <p:cNvSpPr/>
          <p:nvPr/>
        </p:nvSpPr>
        <p:spPr>
          <a:xfrm>
            <a:off x="8503920" y="1554480"/>
            <a:ext cx="3200400" cy="29260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03920" y="1554480"/>
            <a:ext cx="3200400" cy="457200"/>
          </a:xfrm>
          <a:prstGeom prst="rect">
            <a:avLst/>
          </a:prstGeom>
          <a:solidFill>
            <a:srgbClr val="D299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0" y="1600200"/>
            <a:ext cx="3017520" cy="411480"/>
          </a:xfrm>
          <a:prstGeom prst="rect">
            <a:avLst/>
          </a:prstGeom>
          <a:noFill/>
        </p:spPr>
        <p:txBody>
          <a:bodyPr wrap="square">
            <a:spAutoFit/>
          </a:bodyPr>
          <a:lstStyle/>
          <a:p>
            <a:pPr algn="l"/>
            <a:r>
              <a:rPr sz="1400" b="1">
                <a:solidFill>
                  <a:srgbClr val="FFFFFF"/>
                </a:solidFill>
              </a:rPr>
              <a:t>PostgreSQL
(Docker)</a:t>
            </a:r>
          </a:p>
        </p:txBody>
      </p:sp>
      <p:sp>
        <p:nvSpPr>
          <p:cNvPr id="16" name="TextBox 15"/>
          <p:cNvSpPr txBox="1"/>
          <p:nvPr/>
        </p:nvSpPr>
        <p:spPr>
          <a:xfrm>
            <a:off x="8595360" y="2103120"/>
            <a:ext cx="3017520" cy="2194560"/>
          </a:xfrm>
          <a:prstGeom prst="rect">
            <a:avLst/>
          </a:prstGeom>
          <a:noFill/>
        </p:spPr>
        <p:txBody>
          <a:bodyPr wrap="square">
            <a:spAutoFit/>
          </a:bodyPr>
          <a:lstStyle/>
          <a:p>
            <a:pPr algn="l"/>
            <a:r>
              <a:rPr sz="1100" b="0">
                <a:solidFill>
                  <a:srgbClr val="8B949E"/>
                </a:solidFill>
              </a:rPr>
              <a:t>• Users / Properties
• Contractors / Jobs
• Bids / Assignments
• Seeded test data</a:t>
            </a:r>
          </a:p>
        </p:txBody>
      </p:sp>
      <p:sp>
        <p:nvSpPr>
          <p:cNvPr id="17" name="TextBox 16"/>
          <p:cNvSpPr txBox="1"/>
          <p:nvPr/>
        </p:nvSpPr>
        <p:spPr>
          <a:xfrm>
            <a:off x="3566160" y="2560320"/>
            <a:ext cx="548640" cy="365760"/>
          </a:xfrm>
          <a:prstGeom prst="rect">
            <a:avLst/>
          </a:prstGeom>
          <a:noFill/>
        </p:spPr>
        <p:txBody>
          <a:bodyPr wrap="square">
            <a:spAutoFit/>
          </a:bodyPr>
          <a:lstStyle/>
          <a:p>
            <a:pPr algn="ctr"/>
            <a:r>
              <a:rPr sz="2400" b="1">
                <a:solidFill>
                  <a:srgbClr val="388BFD"/>
                </a:solidFill>
              </a:rPr>
              <a:t>→</a:t>
            </a:r>
          </a:p>
        </p:txBody>
      </p:sp>
      <p:sp>
        <p:nvSpPr>
          <p:cNvPr id="18" name="TextBox 17"/>
          <p:cNvSpPr txBox="1"/>
          <p:nvPr/>
        </p:nvSpPr>
        <p:spPr>
          <a:xfrm>
            <a:off x="8046720" y="2560320"/>
            <a:ext cx="548640" cy="365760"/>
          </a:xfrm>
          <a:prstGeom prst="rect">
            <a:avLst/>
          </a:prstGeom>
          <a:noFill/>
        </p:spPr>
        <p:txBody>
          <a:bodyPr wrap="square">
            <a:spAutoFit/>
          </a:bodyPr>
          <a:lstStyle/>
          <a:p>
            <a:pPr algn="ctr"/>
            <a:r>
              <a:rPr sz="2400" b="1">
                <a:solidFill>
                  <a:srgbClr val="388BFD"/>
                </a:solidFill>
              </a:rPr>
              <a:t>→</a:t>
            </a:r>
          </a:p>
        </p:txBody>
      </p:sp>
      <p:sp>
        <p:nvSpPr>
          <p:cNvPr id="19" name="TextBox 18"/>
          <p:cNvSpPr txBox="1"/>
          <p:nvPr/>
        </p:nvSpPr>
        <p:spPr>
          <a:xfrm>
            <a:off x="457200" y="4754880"/>
            <a:ext cx="10972800" cy="457200"/>
          </a:xfrm>
          <a:prstGeom prst="rect">
            <a:avLst/>
          </a:prstGeom>
          <a:noFill/>
        </p:spPr>
        <p:txBody>
          <a:bodyPr wrap="square">
            <a:spAutoFit/>
          </a:bodyPr>
          <a:lstStyle/>
          <a:p>
            <a:pPr algn="ctr"/>
            <a:r>
              <a:rPr sz="1300" b="0">
                <a:solidFill>
                  <a:srgbClr val="8B949E"/>
                </a:solidFill>
              </a:rPr>
              <a:t>localhost:5175 (frontend)  ·  localhost:3001 (API)  ·  localhost:5432 (PostgreSQL)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A3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r>
              <a:rPr sz="2800" b="1">
                <a:solidFill>
                  <a:srgbClr val="FFFFFF"/>
                </a:solidFill>
              </a:rPr>
              <a:t>10 Intentional Vulnerabilities — OWASP API Security Top 10</a:t>
            </a:r>
          </a:p>
        </p:txBody>
      </p:sp>
      <p:sp>
        <p:nvSpPr>
          <p:cNvPr id="4" name="Rectangle 3"/>
          <p:cNvSpPr/>
          <p:nvPr/>
        </p:nvSpPr>
        <p:spPr>
          <a:xfrm>
            <a:off x="274320" y="1005840"/>
            <a:ext cx="219456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2194560" cy="320040"/>
          </a:xfrm>
          <a:prstGeom prst="rect">
            <a:avLst/>
          </a:prstGeom>
          <a:solidFill>
            <a:srgbClr val="DA3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042416"/>
            <a:ext cx="2103120" cy="274320"/>
          </a:xfrm>
          <a:prstGeom prst="rect">
            <a:avLst/>
          </a:prstGeom>
          <a:noFill/>
        </p:spPr>
        <p:txBody>
          <a:bodyPr wrap="square">
            <a:spAutoFit/>
          </a:bodyPr>
          <a:lstStyle/>
          <a:p>
            <a:pPr algn="l"/>
            <a:r>
              <a:rPr sz="1000" b="1">
                <a:solidFill>
                  <a:srgbClr val="FFFFFF"/>
                </a:solidFill>
              </a:rPr>
              <a:t>VULN-1</a:t>
            </a:r>
          </a:p>
        </p:txBody>
      </p:sp>
      <p:sp>
        <p:nvSpPr>
          <p:cNvPr id="7" name="TextBox 6"/>
          <p:cNvSpPr txBox="1"/>
          <p:nvPr/>
        </p:nvSpPr>
        <p:spPr>
          <a:xfrm>
            <a:off x="320040" y="1371600"/>
            <a:ext cx="2103120" cy="457200"/>
          </a:xfrm>
          <a:prstGeom prst="rect">
            <a:avLst/>
          </a:prstGeom>
          <a:noFill/>
        </p:spPr>
        <p:txBody>
          <a:bodyPr wrap="square">
            <a:spAutoFit/>
          </a:bodyPr>
          <a:lstStyle/>
          <a:p>
            <a:pPr algn="l"/>
            <a:r>
              <a:rPr sz="1400" b="1">
                <a:solidFill>
                  <a:srgbClr val="FFFFFF"/>
                </a:solidFill>
              </a:rPr>
              <a:t>BOLA</a:t>
            </a:r>
          </a:p>
        </p:txBody>
      </p:sp>
      <p:sp>
        <p:nvSpPr>
          <p:cNvPr id="8" name="TextBox 7"/>
          <p:cNvSpPr txBox="1"/>
          <p:nvPr/>
        </p:nvSpPr>
        <p:spPr>
          <a:xfrm>
            <a:off x="320040" y="1874519"/>
            <a:ext cx="2103120" cy="822960"/>
          </a:xfrm>
          <a:prstGeom prst="rect">
            <a:avLst/>
          </a:prstGeom>
          <a:noFill/>
        </p:spPr>
        <p:txBody>
          <a:bodyPr wrap="square">
            <a:spAutoFit/>
          </a:bodyPr>
          <a:lstStyle/>
          <a:p>
            <a:pPr algn="l"/>
            <a:r>
              <a:rPr sz="1100" b="0">
                <a:solidFill>
                  <a:srgbClr val="8B949E"/>
                </a:solidFill>
              </a:rPr>
              <a:t>Cross-user job access</a:t>
            </a:r>
          </a:p>
        </p:txBody>
      </p:sp>
      <p:sp>
        <p:nvSpPr>
          <p:cNvPr id="9" name="Rectangle 8"/>
          <p:cNvSpPr/>
          <p:nvPr/>
        </p:nvSpPr>
        <p:spPr>
          <a:xfrm>
            <a:off x="2651760" y="1005840"/>
            <a:ext cx="219456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651760" y="1005840"/>
            <a:ext cx="2194560" cy="320040"/>
          </a:xfrm>
          <a:prstGeom prst="rect">
            <a:avLst/>
          </a:prstGeom>
          <a:solidFill>
            <a:srgbClr val="D299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79" y="1042416"/>
            <a:ext cx="2103120" cy="274320"/>
          </a:xfrm>
          <a:prstGeom prst="rect">
            <a:avLst/>
          </a:prstGeom>
          <a:noFill/>
        </p:spPr>
        <p:txBody>
          <a:bodyPr wrap="square">
            <a:spAutoFit/>
          </a:bodyPr>
          <a:lstStyle/>
          <a:p>
            <a:pPr algn="l"/>
            <a:r>
              <a:rPr sz="1000" b="1">
                <a:solidFill>
                  <a:srgbClr val="FFFFFF"/>
                </a:solidFill>
              </a:rPr>
              <a:t>VULN-2</a:t>
            </a:r>
          </a:p>
        </p:txBody>
      </p:sp>
      <p:sp>
        <p:nvSpPr>
          <p:cNvPr id="12" name="TextBox 11"/>
          <p:cNvSpPr txBox="1"/>
          <p:nvPr/>
        </p:nvSpPr>
        <p:spPr>
          <a:xfrm>
            <a:off x="2697479" y="1371600"/>
            <a:ext cx="2103120" cy="457200"/>
          </a:xfrm>
          <a:prstGeom prst="rect">
            <a:avLst/>
          </a:prstGeom>
          <a:noFill/>
        </p:spPr>
        <p:txBody>
          <a:bodyPr wrap="square">
            <a:spAutoFit/>
          </a:bodyPr>
          <a:lstStyle/>
          <a:p>
            <a:pPr algn="l"/>
            <a:r>
              <a:rPr sz="1400" b="1">
                <a:solidFill>
                  <a:srgbClr val="FFFFFF"/>
                </a:solidFill>
              </a:rPr>
              <a:t>Broken Auth</a:t>
            </a:r>
          </a:p>
        </p:txBody>
      </p:sp>
      <p:sp>
        <p:nvSpPr>
          <p:cNvPr id="13" name="TextBox 12"/>
          <p:cNvSpPr txBox="1"/>
          <p:nvPr/>
        </p:nvSpPr>
        <p:spPr>
          <a:xfrm>
            <a:off x="2697479" y="1874519"/>
            <a:ext cx="2103120" cy="822960"/>
          </a:xfrm>
          <a:prstGeom prst="rect">
            <a:avLst/>
          </a:prstGeom>
          <a:noFill/>
        </p:spPr>
        <p:txBody>
          <a:bodyPr wrap="square">
            <a:spAutoFit/>
          </a:bodyPr>
          <a:lstStyle/>
          <a:p>
            <a:pPr algn="l"/>
            <a:r>
              <a:rPr sz="1100" b="0">
                <a:solidFill>
                  <a:srgbClr val="8B949E"/>
                </a:solidFill>
              </a:rPr>
              <a:t>Expired JWT accepted</a:t>
            </a:r>
          </a:p>
        </p:txBody>
      </p:sp>
      <p:sp>
        <p:nvSpPr>
          <p:cNvPr id="14" name="Rectangle 13"/>
          <p:cNvSpPr/>
          <p:nvPr/>
        </p:nvSpPr>
        <p:spPr>
          <a:xfrm>
            <a:off x="5029200" y="1005840"/>
            <a:ext cx="219456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0" y="1005840"/>
            <a:ext cx="2194560" cy="320040"/>
          </a:xfrm>
          <a:prstGeom prst="rect">
            <a:avLst/>
          </a:prstGeom>
          <a:solidFill>
            <a:srgbClr val="8957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042416"/>
            <a:ext cx="2103120" cy="274320"/>
          </a:xfrm>
          <a:prstGeom prst="rect">
            <a:avLst/>
          </a:prstGeom>
          <a:noFill/>
        </p:spPr>
        <p:txBody>
          <a:bodyPr wrap="square">
            <a:spAutoFit/>
          </a:bodyPr>
          <a:lstStyle/>
          <a:p>
            <a:pPr algn="l"/>
            <a:r>
              <a:rPr sz="1000" b="1">
                <a:solidFill>
                  <a:srgbClr val="FFFFFF"/>
                </a:solidFill>
              </a:rPr>
              <a:t>VULN-3</a:t>
            </a:r>
          </a:p>
        </p:txBody>
      </p:sp>
      <p:sp>
        <p:nvSpPr>
          <p:cNvPr id="17" name="TextBox 16"/>
          <p:cNvSpPr txBox="1"/>
          <p:nvPr/>
        </p:nvSpPr>
        <p:spPr>
          <a:xfrm>
            <a:off x="5074920" y="1371600"/>
            <a:ext cx="2103120" cy="457200"/>
          </a:xfrm>
          <a:prstGeom prst="rect">
            <a:avLst/>
          </a:prstGeom>
          <a:noFill/>
        </p:spPr>
        <p:txBody>
          <a:bodyPr wrap="square">
            <a:spAutoFit/>
          </a:bodyPr>
          <a:lstStyle/>
          <a:p>
            <a:pPr algn="l"/>
            <a:r>
              <a:rPr sz="1400" b="1">
                <a:solidFill>
                  <a:srgbClr val="FFFFFF"/>
                </a:solidFill>
              </a:rPr>
              <a:t>Mass Assignment</a:t>
            </a:r>
          </a:p>
        </p:txBody>
      </p:sp>
      <p:sp>
        <p:nvSpPr>
          <p:cNvPr id="18" name="TextBox 17"/>
          <p:cNvSpPr txBox="1"/>
          <p:nvPr/>
        </p:nvSpPr>
        <p:spPr>
          <a:xfrm>
            <a:off x="5074920" y="1874519"/>
            <a:ext cx="2103120" cy="822960"/>
          </a:xfrm>
          <a:prstGeom prst="rect">
            <a:avLst/>
          </a:prstGeom>
          <a:noFill/>
        </p:spPr>
        <p:txBody>
          <a:bodyPr wrap="square">
            <a:spAutoFit/>
          </a:bodyPr>
          <a:lstStyle/>
          <a:p>
            <a:pPr algn="l"/>
            <a:r>
              <a:rPr sz="1100" b="0">
                <a:solidFill>
                  <a:srgbClr val="8B949E"/>
                </a:solidFill>
              </a:rPr>
              <a:t>Role elevation via PUT</a:t>
            </a:r>
          </a:p>
        </p:txBody>
      </p:sp>
      <p:sp>
        <p:nvSpPr>
          <p:cNvPr id="19" name="Rectangle 18"/>
          <p:cNvSpPr/>
          <p:nvPr/>
        </p:nvSpPr>
        <p:spPr>
          <a:xfrm>
            <a:off x="7406640" y="1005840"/>
            <a:ext cx="219456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06640" y="1005840"/>
            <a:ext cx="2194560" cy="320040"/>
          </a:xfrm>
          <a:prstGeom prst="rect">
            <a:avLst/>
          </a:prstGeom>
          <a:solidFill>
            <a:srgbClr val="DA3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52360" y="1042416"/>
            <a:ext cx="2103120" cy="274320"/>
          </a:xfrm>
          <a:prstGeom prst="rect">
            <a:avLst/>
          </a:prstGeom>
          <a:noFill/>
        </p:spPr>
        <p:txBody>
          <a:bodyPr wrap="square">
            <a:spAutoFit/>
          </a:bodyPr>
          <a:lstStyle/>
          <a:p>
            <a:pPr algn="l"/>
            <a:r>
              <a:rPr sz="1000" b="1">
                <a:solidFill>
                  <a:srgbClr val="FFFFFF"/>
                </a:solidFill>
              </a:rPr>
              <a:t>VULN-4</a:t>
            </a:r>
          </a:p>
        </p:txBody>
      </p:sp>
      <p:sp>
        <p:nvSpPr>
          <p:cNvPr id="22" name="TextBox 21"/>
          <p:cNvSpPr txBox="1"/>
          <p:nvPr/>
        </p:nvSpPr>
        <p:spPr>
          <a:xfrm>
            <a:off x="7452360" y="1371600"/>
            <a:ext cx="2103120" cy="457200"/>
          </a:xfrm>
          <a:prstGeom prst="rect">
            <a:avLst/>
          </a:prstGeom>
          <a:noFill/>
        </p:spPr>
        <p:txBody>
          <a:bodyPr wrap="square">
            <a:spAutoFit/>
          </a:bodyPr>
          <a:lstStyle/>
          <a:p>
            <a:pPr algn="l"/>
            <a:r>
              <a:rPr sz="1400" b="1">
                <a:solidFill>
                  <a:srgbClr val="FFFFFF"/>
                </a:solidFill>
              </a:rPr>
              <a:t>Large Payload DoS</a:t>
            </a:r>
          </a:p>
        </p:txBody>
      </p:sp>
      <p:sp>
        <p:nvSpPr>
          <p:cNvPr id="23" name="TextBox 22"/>
          <p:cNvSpPr txBox="1"/>
          <p:nvPr/>
        </p:nvSpPr>
        <p:spPr>
          <a:xfrm>
            <a:off x="7452360" y="1874519"/>
            <a:ext cx="2103120" cy="822960"/>
          </a:xfrm>
          <a:prstGeom prst="rect">
            <a:avLst/>
          </a:prstGeom>
          <a:noFill/>
        </p:spPr>
        <p:txBody>
          <a:bodyPr wrap="square">
            <a:spAutoFit/>
          </a:bodyPr>
          <a:lstStyle/>
          <a:p>
            <a:pPr algn="l"/>
            <a:r>
              <a:rPr sz="1100" b="0">
                <a:solidFill>
                  <a:srgbClr val="8B949E"/>
                </a:solidFill>
              </a:rPr>
              <a:t>No upload size limit</a:t>
            </a:r>
          </a:p>
        </p:txBody>
      </p:sp>
      <p:sp>
        <p:nvSpPr>
          <p:cNvPr id="24" name="Rectangle 23"/>
          <p:cNvSpPr/>
          <p:nvPr/>
        </p:nvSpPr>
        <p:spPr>
          <a:xfrm>
            <a:off x="9784080" y="1005840"/>
            <a:ext cx="219456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784080" y="1005840"/>
            <a:ext cx="2194560" cy="320040"/>
          </a:xfrm>
          <a:prstGeom prst="rect">
            <a:avLst/>
          </a:prstGeom>
          <a:solidFill>
            <a:srgbClr val="D299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29800" y="1042416"/>
            <a:ext cx="2103120" cy="274320"/>
          </a:xfrm>
          <a:prstGeom prst="rect">
            <a:avLst/>
          </a:prstGeom>
          <a:noFill/>
        </p:spPr>
        <p:txBody>
          <a:bodyPr wrap="square">
            <a:spAutoFit/>
          </a:bodyPr>
          <a:lstStyle/>
          <a:p>
            <a:pPr algn="l"/>
            <a:r>
              <a:rPr sz="1000" b="1">
                <a:solidFill>
                  <a:srgbClr val="FFFFFF"/>
                </a:solidFill>
              </a:rPr>
              <a:t>VULN-5</a:t>
            </a:r>
          </a:p>
        </p:txBody>
      </p:sp>
      <p:sp>
        <p:nvSpPr>
          <p:cNvPr id="27" name="TextBox 26"/>
          <p:cNvSpPr txBox="1"/>
          <p:nvPr/>
        </p:nvSpPr>
        <p:spPr>
          <a:xfrm>
            <a:off x="9829800" y="1371600"/>
            <a:ext cx="2103120" cy="457200"/>
          </a:xfrm>
          <a:prstGeom prst="rect">
            <a:avLst/>
          </a:prstGeom>
          <a:noFill/>
        </p:spPr>
        <p:txBody>
          <a:bodyPr wrap="square">
            <a:spAutoFit/>
          </a:bodyPr>
          <a:lstStyle/>
          <a:p>
            <a:pPr algn="l"/>
            <a:r>
              <a:rPr sz="1400" b="1">
                <a:solidFill>
                  <a:srgbClr val="FFFFFF"/>
                </a:solidFill>
              </a:rPr>
              <a:t>Pagination Abuse</a:t>
            </a:r>
          </a:p>
        </p:txBody>
      </p:sp>
      <p:sp>
        <p:nvSpPr>
          <p:cNvPr id="28" name="TextBox 27"/>
          <p:cNvSpPr txBox="1"/>
          <p:nvPr/>
        </p:nvSpPr>
        <p:spPr>
          <a:xfrm>
            <a:off x="9829800" y="1874519"/>
            <a:ext cx="2103120" cy="822960"/>
          </a:xfrm>
          <a:prstGeom prst="rect">
            <a:avLst/>
          </a:prstGeom>
          <a:noFill/>
        </p:spPr>
        <p:txBody>
          <a:bodyPr wrap="square">
            <a:spAutoFit/>
          </a:bodyPr>
          <a:lstStyle/>
          <a:p>
            <a:pPr algn="l"/>
            <a:r>
              <a:rPr sz="1100" b="0">
                <a:solidFill>
                  <a:srgbClr val="8B949E"/>
                </a:solidFill>
              </a:rPr>
              <a:t>limit=999999 dumps DB</a:t>
            </a:r>
          </a:p>
        </p:txBody>
      </p:sp>
      <p:sp>
        <p:nvSpPr>
          <p:cNvPr id="29" name="Rectangle 28"/>
          <p:cNvSpPr/>
          <p:nvPr/>
        </p:nvSpPr>
        <p:spPr>
          <a:xfrm>
            <a:off x="274320" y="3383280"/>
            <a:ext cx="219456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4320" y="3383280"/>
            <a:ext cx="2194560" cy="320040"/>
          </a:xfrm>
          <a:prstGeom prst="rect">
            <a:avLst/>
          </a:prstGeom>
          <a:solidFill>
            <a:srgbClr val="8957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3419856"/>
            <a:ext cx="2103120" cy="274320"/>
          </a:xfrm>
          <a:prstGeom prst="rect">
            <a:avLst/>
          </a:prstGeom>
          <a:noFill/>
        </p:spPr>
        <p:txBody>
          <a:bodyPr wrap="square">
            <a:spAutoFit/>
          </a:bodyPr>
          <a:lstStyle/>
          <a:p>
            <a:pPr algn="l"/>
            <a:r>
              <a:rPr sz="1000" b="1">
                <a:solidFill>
                  <a:srgbClr val="FFFFFF"/>
                </a:solidFill>
              </a:rPr>
              <a:t>VULN-6</a:t>
            </a:r>
          </a:p>
        </p:txBody>
      </p:sp>
      <p:sp>
        <p:nvSpPr>
          <p:cNvPr id="32" name="TextBox 31"/>
          <p:cNvSpPr txBox="1"/>
          <p:nvPr/>
        </p:nvSpPr>
        <p:spPr>
          <a:xfrm>
            <a:off x="320040" y="3749040"/>
            <a:ext cx="2103120" cy="457200"/>
          </a:xfrm>
          <a:prstGeom prst="rect">
            <a:avLst/>
          </a:prstGeom>
          <a:noFill/>
        </p:spPr>
        <p:txBody>
          <a:bodyPr wrap="square">
            <a:spAutoFit/>
          </a:bodyPr>
          <a:lstStyle/>
          <a:p>
            <a:pPr algn="l"/>
            <a:r>
              <a:rPr sz="1400" b="1">
                <a:solidFill>
                  <a:srgbClr val="FFFFFF"/>
                </a:solidFill>
              </a:rPr>
              <a:t>Rate Limiting</a:t>
            </a:r>
          </a:p>
        </p:txBody>
      </p:sp>
      <p:sp>
        <p:nvSpPr>
          <p:cNvPr id="33" name="TextBox 32"/>
          <p:cNvSpPr txBox="1"/>
          <p:nvPr/>
        </p:nvSpPr>
        <p:spPr>
          <a:xfrm>
            <a:off x="320040" y="4251960"/>
            <a:ext cx="2103120" cy="822960"/>
          </a:xfrm>
          <a:prstGeom prst="rect">
            <a:avLst/>
          </a:prstGeom>
          <a:noFill/>
        </p:spPr>
        <p:txBody>
          <a:bodyPr wrap="square">
            <a:spAutoFit/>
          </a:bodyPr>
          <a:lstStyle/>
          <a:p>
            <a:pPr algn="l"/>
            <a:r>
              <a:rPr sz="1100" b="0">
                <a:solidFill>
                  <a:srgbClr val="8B949E"/>
                </a:solidFill>
              </a:rPr>
              <a:t>Bid flooding, no 429</a:t>
            </a:r>
          </a:p>
        </p:txBody>
      </p:sp>
      <p:sp>
        <p:nvSpPr>
          <p:cNvPr id="34" name="Rectangle 33"/>
          <p:cNvSpPr/>
          <p:nvPr/>
        </p:nvSpPr>
        <p:spPr>
          <a:xfrm>
            <a:off x="2651760" y="3383280"/>
            <a:ext cx="219456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651760" y="3383280"/>
            <a:ext cx="2194560" cy="320040"/>
          </a:xfrm>
          <a:prstGeom prst="rect">
            <a:avLst/>
          </a:prstGeom>
          <a:solidFill>
            <a:srgbClr val="DA3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97479" y="3419856"/>
            <a:ext cx="2103120" cy="274320"/>
          </a:xfrm>
          <a:prstGeom prst="rect">
            <a:avLst/>
          </a:prstGeom>
          <a:noFill/>
        </p:spPr>
        <p:txBody>
          <a:bodyPr wrap="square">
            <a:spAutoFit/>
          </a:bodyPr>
          <a:lstStyle/>
          <a:p>
            <a:pPr algn="l"/>
            <a:r>
              <a:rPr sz="1000" b="1">
                <a:solidFill>
                  <a:srgbClr val="FFFFFF"/>
                </a:solidFill>
              </a:rPr>
              <a:t>VULN-7</a:t>
            </a:r>
          </a:p>
        </p:txBody>
      </p:sp>
      <p:sp>
        <p:nvSpPr>
          <p:cNvPr id="37" name="TextBox 36"/>
          <p:cNvSpPr txBox="1"/>
          <p:nvPr/>
        </p:nvSpPr>
        <p:spPr>
          <a:xfrm>
            <a:off x="2697479" y="3749040"/>
            <a:ext cx="2103120" cy="457200"/>
          </a:xfrm>
          <a:prstGeom prst="rect">
            <a:avLst/>
          </a:prstGeom>
          <a:noFill/>
        </p:spPr>
        <p:txBody>
          <a:bodyPr wrap="square">
            <a:spAutoFit/>
          </a:bodyPr>
          <a:lstStyle/>
          <a:p>
            <a:pPr algn="l"/>
            <a:r>
              <a:rPr sz="1400" b="1">
                <a:solidFill>
                  <a:srgbClr val="FFFFFF"/>
                </a:solidFill>
              </a:rPr>
              <a:t>CORS Misconfig</a:t>
            </a:r>
          </a:p>
        </p:txBody>
      </p:sp>
      <p:sp>
        <p:nvSpPr>
          <p:cNvPr id="38" name="TextBox 37"/>
          <p:cNvSpPr txBox="1"/>
          <p:nvPr/>
        </p:nvSpPr>
        <p:spPr>
          <a:xfrm>
            <a:off x="2697479" y="4251960"/>
            <a:ext cx="2103120" cy="822960"/>
          </a:xfrm>
          <a:prstGeom prst="rect">
            <a:avLst/>
          </a:prstGeom>
          <a:noFill/>
        </p:spPr>
        <p:txBody>
          <a:bodyPr wrap="square">
            <a:spAutoFit/>
          </a:bodyPr>
          <a:lstStyle/>
          <a:p>
            <a:pPr algn="l"/>
            <a:r>
              <a:rPr sz="1100" b="0">
                <a:solidFill>
                  <a:srgbClr val="8B949E"/>
                </a:solidFill>
              </a:rPr>
              <a:t>ACAO:* + credentials</a:t>
            </a:r>
          </a:p>
        </p:txBody>
      </p:sp>
      <p:sp>
        <p:nvSpPr>
          <p:cNvPr id="39" name="Rectangle 38"/>
          <p:cNvSpPr/>
          <p:nvPr/>
        </p:nvSpPr>
        <p:spPr>
          <a:xfrm>
            <a:off x="5029200" y="3383280"/>
            <a:ext cx="219456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29200" y="3383280"/>
            <a:ext cx="2194560" cy="320040"/>
          </a:xfrm>
          <a:prstGeom prst="rect">
            <a:avLst/>
          </a:prstGeom>
          <a:solidFill>
            <a:srgbClr val="DA3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3419856"/>
            <a:ext cx="2103120" cy="274320"/>
          </a:xfrm>
          <a:prstGeom prst="rect">
            <a:avLst/>
          </a:prstGeom>
          <a:noFill/>
        </p:spPr>
        <p:txBody>
          <a:bodyPr wrap="square">
            <a:spAutoFit/>
          </a:bodyPr>
          <a:lstStyle/>
          <a:p>
            <a:pPr algn="l"/>
            <a:r>
              <a:rPr sz="1000" b="1">
                <a:solidFill>
                  <a:srgbClr val="FFFFFF"/>
                </a:solidFill>
              </a:rPr>
              <a:t>VULN-8</a:t>
            </a:r>
          </a:p>
        </p:txBody>
      </p:sp>
      <p:sp>
        <p:nvSpPr>
          <p:cNvPr id="42" name="TextBox 41"/>
          <p:cNvSpPr txBox="1"/>
          <p:nvPr/>
        </p:nvSpPr>
        <p:spPr>
          <a:xfrm>
            <a:off x="5074920" y="3749040"/>
            <a:ext cx="2103120" cy="457200"/>
          </a:xfrm>
          <a:prstGeom prst="rect">
            <a:avLst/>
          </a:prstGeom>
          <a:noFill/>
        </p:spPr>
        <p:txBody>
          <a:bodyPr wrap="square">
            <a:spAutoFit/>
          </a:bodyPr>
          <a:lstStyle/>
          <a:p>
            <a:pPr algn="l"/>
            <a:r>
              <a:rPr sz="1400" b="1">
                <a:solidFill>
                  <a:srgbClr val="FFFFFF"/>
                </a:solidFill>
              </a:rPr>
              <a:t>SQL Injection</a:t>
            </a:r>
          </a:p>
        </p:txBody>
      </p:sp>
      <p:sp>
        <p:nvSpPr>
          <p:cNvPr id="43" name="TextBox 42"/>
          <p:cNvSpPr txBox="1"/>
          <p:nvPr/>
        </p:nvSpPr>
        <p:spPr>
          <a:xfrm>
            <a:off x="5074920" y="4251960"/>
            <a:ext cx="2103120" cy="822960"/>
          </a:xfrm>
          <a:prstGeom prst="rect">
            <a:avLst/>
          </a:prstGeom>
          <a:noFill/>
        </p:spPr>
        <p:txBody>
          <a:bodyPr wrap="square">
            <a:spAutoFit/>
          </a:bodyPr>
          <a:lstStyle/>
          <a:p>
            <a:pPr algn="l"/>
            <a:r>
              <a:rPr sz="1100" b="0">
                <a:solidFill>
                  <a:srgbClr val="8B949E"/>
                </a:solidFill>
              </a:rPr>
              <a:t>Raw string in query</a:t>
            </a:r>
          </a:p>
        </p:txBody>
      </p:sp>
      <p:sp>
        <p:nvSpPr>
          <p:cNvPr id="44" name="Rectangle 43"/>
          <p:cNvSpPr/>
          <p:nvPr/>
        </p:nvSpPr>
        <p:spPr>
          <a:xfrm>
            <a:off x="7406640" y="3383280"/>
            <a:ext cx="219456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406640" y="3383280"/>
            <a:ext cx="2194560" cy="320040"/>
          </a:xfrm>
          <a:prstGeom prst="rect">
            <a:avLst/>
          </a:prstGeom>
          <a:solidFill>
            <a:srgbClr val="D299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52360" y="3419856"/>
            <a:ext cx="2103120" cy="274320"/>
          </a:xfrm>
          <a:prstGeom prst="rect">
            <a:avLst/>
          </a:prstGeom>
          <a:noFill/>
        </p:spPr>
        <p:txBody>
          <a:bodyPr wrap="square">
            <a:spAutoFit/>
          </a:bodyPr>
          <a:lstStyle/>
          <a:p>
            <a:pPr algn="l"/>
            <a:r>
              <a:rPr sz="1000" b="1">
                <a:solidFill>
                  <a:srgbClr val="FFFFFF"/>
                </a:solidFill>
              </a:rPr>
              <a:t>VULN-9</a:t>
            </a:r>
          </a:p>
        </p:txBody>
      </p:sp>
      <p:sp>
        <p:nvSpPr>
          <p:cNvPr id="47" name="TextBox 46"/>
          <p:cNvSpPr txBox="1"/>
          <p:nvPr/>
        </p:nvSpPr>
        <p:spPr>
          <a:xfrm>
            <a:off x="7452360" y="3749040"/>
            <a:ext cx="2103120" cy="457200"/>
          </a:xfrm>
          <a:prstGeom prst="rect">
            <a:avLst/>
          </a:prstGeom>
          <a:noFill/>
        </p:spPr>
        <p:txBody>
          <a:bodyPr wrap="square">
            <a:spAutoFit/>
          </a:bodyPr>
          <a:lstStyle/>
          <a:p>
            <a:pPr algn="l"/>
            <a:r>
              <a:rPr sz="1400" b="1">
                <a:solidFill>
                  <a:srgbClr val="FFFFFF"/>
                </a:solidFill>
              </a:rPr>
              <a:t>Business Flow</a:t>
            </a:r>
          </a:p>
        </p:txBody>
      </p:sp>
      <p:sp>
        <p:nvSpPr>
          <p:cNvPr id="48" name="TextBox 47"/>
          <p:cNvSpPr txBox="1"/>
          <p:nvPr/>
        </p:nvSpPr>
        <p:spPr>
          <a:xfrm>
            <a:off x="7452360" y="4251960"/>
            <a:ext cx="2103120" cy="822960"/>
          </a:xfrm>
          <a:prstGeom prst="rect">
            <a:avLst/>
          </a:prstGeom>
          <a:noFill/>
        </p:spPr>
        <p:txBody>
          <a:bodyPr wrap="square">
            <a:spAutoFit/>
          </a:bodyPr>
          <a:lstStyle/>
          <a:p>
            <a:pPr algn="l"/>
            <a:r>
              <a:rPr sz="1100" b="0">
                <a:solidFill>
                  <a:srgbClr val="8B949E"/>
                </a:solidFill>
              </a:rPr>
              <a:t>Non-assigned completes job</a:t>
            </a:r>
          </a:p>
        </p:txBody>
      </p:sp>
      <p:sp>
        <p:nvSpPr>
          <p:cNvPr id="49" name="Rectangle 48"/>
          <p:cNvSpPr/>
          <p:nvPr/>
        </p:nvSpPr>
        <p:spPr>
          <a:xfrm>
            <a:off x="9784080" y="3383280"/>
            <a:ext cx="2194560" cy="20116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784080" y="3383280"/>
            <a:ext cx="2194560" cy="320040"/>
          </a:xfrm>
          <a:prstGeom prst="rect">
            <a:avLst/>
          </a:prstGeom>
          <a:solidFill>
            <a:srgbClr val="DA3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829800" y="3419856"/>
            <a:ext cx="2103120" cy="274320"/>
          </a:xfrm>
          <a:prstGeom prst="rect">
            <a:avLst/>
          </a:prstGeom>
          <a:noFill/>
        </p:spPr>
        <p:txBody>
          <a:bodyPr wrap="square">
            <a:spAutoFit/>
          </a:bodyPr>
          <a:lstStyle/>
          <a:p>
            <a:pPr algn="l"/>
            <a:r>
              <a:rPr sz="1000" b="1">
                <a:solidFill>
                  <a:srgbClr val="FFFFFF"/>
                </a:solidFill>
              </a:rPr>
              <a:t>VULN-10</a:t>
            </a:r>
          </a:p>
        </p:txBody>
      </p:sp>
      <p:sp>
        <p:nvSpPr>
          <p:cNvPr id="52" name="TextBox 51"/>
          <p:cNvSpPr txBox="1"/>
          <p:nvPr/>
        </p:nvSpPr>
        <p:spPr>
          <a:xfrm>
            <a:off x="9829800" y="3749040"/>
            <a:ext cx="2103120" cy="457200"/>
          </a:xfrm>
          <a:prstGeom prst="rect">
            <a:avLst/>
          </a:prstGeom>
          <a:noFill/>
        </p:spPr>
        <p:txBody>
          <a:bodyPr wrap="square">
            <a:spAutoFit/>
          </a:bodyPr>
          <a:lstStyle/>
          <a:p>
            <a:pPr algn="l"/>
            <a:r>
              <a:rPr sz="1400" b="1">
                <a:solidFill>
                  <a:srgbClr val="FFFFFF"/>
                </a:solidFill>
              </a:rPr>
              <a:t>SSRF</a:t>
            </a:r>
          </a:p>
        </p:txBody>
      </p:sp>
      <p:sp>
        <p:nvSpPr>
          <p:cNvPr id="53" name="TextBox 52"/>
          <p:cNvSpPr txBox="1"/>
          <p:nvPr/>
        </p:nvSpPr>
        <p:spPr>
          <a:xfrm>
            <a:off x="9829800" y="4251960"/>
            <a:ext cx="2103120" cy="822960"/>
          </a:xfrm>
          <a:prstGeom prst="rect">
            <a:avLst/>
          </a:prstGeom>
          <a:noFill/>
        </p:spPr>
        <p:txBody>
          <a:bodyPr wrap="square">
            <a:spAutoFit/>
          </a:bodyPr>
          <a:lstStyle/>
          <a:p>
            <a:pPr algn="l"/>
            <a:r>
              <a:rPr sz="1100" b="0">
                <a:solidFill>
                  <a:srgbClr val="8B949E"/>
                </a:solidFill>
              </a:rPr>
              <a:t>Webhook→metadata server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A3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r>
              <a:rPr sz="3200" b="1">
                <a:solidFill>
                  <a:srgbClr val="FFFFFF"/>
                </a:solidFill>
              </a:rPr>
              <a:t>VULN-1: BOLA — Live Exploit</a:t>
            </a:r>
          </a:p>
        </p:txBody>
      </p:sp>
      <p:sp>
        <p:nvSpPr>
          <p:cNvPr id="4" name="TextBox 3"/>
          <p:cNvSpPr txBox="1"/>
          <p:nvPr/>
        </p:nvSpPr>
        <p:spPr>
          <a:xfrm>
            <a:off x="457200" y="914400"/>
            <a:ext cx="7315200" cy="365760"/>
          </a:xfrm>
          <a:prstGeom prst="rect">
            <a:avLst/>
          </a:prstGeom>
          <a:noFill/>
        </p:spPr>
        <p:txBody>
          <a:bodyPr wrap="square">
            <a:spAutoFit/>
          </a:bodyPr>
          <a:lstStyle/>
          <a:p>
            <a:pPr algn="l"/>
            <a:r>
              <a:rPr sz="1600" b="0">
                <a:solidFill>
                  <a:srgbClr val="DA3633"/>
                </a:solidFill>
              </a:rPr>
              <a:t>Bob (authenticated) reads Alice's private job record — HTTP 200</a:t>
            </a:r>
          </a:p>
        </p:txBody>
      </p:sp>
      <p:sp>
        <p:nvSpPr>
          <p:cNvPr id="5" name="Rectangle 4"/>
          <p:cNvSpPr/>
          <p:nvPr/>
        </p:nvSpPr>
        <p:spPr>
          <a:xfrm>
            <a:off x="457200" y="1463040"/>
            <a:ext cx="5303520" cy="22860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08760"/>
            <a:ext cx="5120640" cy="320040"/>
          </a:xfrm>
          <a:prstGeom prst="rect">
            <a:avLst/>
          </a:prstGeom>
          <a:noFill/>
        </p:spPr>
        <p:txBody>
          <a:bodyPr wrap="square">
            <a:spAutoFit/>
          </a:bodyPr>
          <a:lstStyle/>
          <a:p>
            <a:pPr algn="l"/>
            <a:r>
              <a:rPr sz="1000" b="1">
                <a:solidFill>
                  <a:srgbClr val="388BFD"/>
                </a:solidFill>
              </a:rPr>
              <a:t>HTTP REQUEST (Bob's token)</a:t>
            </a:r>
          </a:p>
        </p:txBody>
      </p:sp>
      <p:sp>
        <p:nvSpPr>
          <p:cNvPr id="7" name="TextBox 6"/>
          <p:cNvSpPr txBox="1"/>
          <p:nvPr/>
        </p:nvSpPr>
        <p:spPr>
          <a:xfrm>
            <a:off x="548640" y="1874519"/>
            <a:ext cx="5120640" cy="1737360"/>
          </a:xfrm>
          <a:prstGeom prst="rect">
            <a:avLst/>
          </a:prstGeom>
          <a:noFill/>
        </p:spPr>
        <p:txBody>
          <a:bodyPr wrap="square">
            <a:spAutoFit/>
          </a:bodyPr>
          <a:lstStyle/>
          <a:p>
            <a:pPr algn="l"/>
            <a:r>
              <a:rPr sz="1000" b="0">
                <a:solidFill>
                  <a:srgbClr val="2EA043"/>
                </a:solidFill>
              </a:rPr>
              <a:t>GET /api/jobs/cccccccc-0000-0000-0000-000000000001
Host: localhost:3001
Authorization: Bearer eyJ...[BOB'S JWT]
→ Expected: 403 Forbidden
→ Actual:   200 OK  ← VULNERABLE</a:t>
            </a:r>
          </a:p>
        </p:txBody>
      </p:sp>
      <p:sp>
        <p:nvSpPr>
          <p:cNvPr id="8" name="Rectangle 7"/>
          <p:cNvSpPr/>
          <p:nvPr/>
        </p:nvSpPr>
        <p:spPr>
          <a:xfrm>
            <a:off x="6035040" y="1463040"/>
            <a:ext cx="5669280" cy="22860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508760"/>
            <a:ext cx="5486400" cy="320040"/>
          </a:xfrm>
          <a:prstGeom prst="rect">
            <a:avLst/>
          </a:prstGeom>
          <a:noFill/>
        </p:spPr>
        <p:txBody>
          <a:bodyPr wrap="square">
            <a:spAutoFit/>
          </a:bodyPr>
          <a:lstStyle/>
          <a:p>
            <a:pPr algn="l"/>
            <a:r>
              <a:rPr sz="1000" b="1">
                <a:solidFill>
                  <a:srgbClr val="DA3633"/>
                </a:solidFill>
              </a:rPr>
              <a:t>SERVER RESPONSE</a:t>
            </a:r>
          </a:p>
        </p:txBody>
      </p:sp>
      <p:sp>
        <p:nvSpPr>
          <p:cNvPr id="10" name="TextBox 9"/>
          <p:cNvSpPr txBox="1"/>
          <p:nvPr/>
        </p:nvSpPr>
        <p:spPr>
          <a:xfrm>
            <a:off x="6126480" y="1874519"/>
            <a:ext cx="5486400" cy="1737360"/>
          </a:xfrm>
          <a:prstGeom prst="rect">
            <a:avLst/>
          </a:prstGeom>
          <a:noFill/>
        </p:spPr>
        <p:txBody>
          <a:bodyPr wrap="square">
            <a:spAutoFit/>
          </a:bodyPr>
          <a:lstStyle/>
          <a:p>
            <a:pPr algn="l"/>
            <a:r>
              <a:rPr sz="1000" b="0">
                <a:solidFill>
                  <a:srgbClr val="FFFFFF"/>
                </a:solidFill>
              </a:rPr>
              <a:t>{
  "id": "cccccccc-...",
  "title": "Roof Inspection",
  "ownerId": "alice-uuid",
  "propertyId": "...",
  "status": "open"
}</a:t>
            </a:r>
          </a:p>
        </p:txBody>
      </p:sp>
      <p:sp>
        <p:nvSpPr>
          <p:cNvPr id="11" name="Rectangle 10"/>
          <p:cNvSpPr/>
          <p:nvPr/>
        </p:nvSpPr>
        <p:spPr>
          <a:xfrm>
            <a:off x="457200" y="3931920"/>
            <a:ext cx="11247120" cy="1371600"/>
          </a:xfrm>
          <a:prstGeom prst="rect">
            <a:avLst/>
          </a:prstGeom>
          <a:solidFill>
            <a:srgbClr val="0A2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977639"/>
            <a:ext cx="10972800" cy="320040"/>
          </a:xfrm>
          <a:prstGeom prst="rect">
            <a:avLst/>
          </a:prstGeom>
          <a:noFill/>
        </p:spPr>
        <p:txBody>
          <a:bodyPr wrap="square">
            <a:spAutoFit/>
          </a:bodyPr>
          <a:lstStyle/>
          <a:p>
            <a:pPr algn="l"/>
            <a:r>
              <a:rPr sz="1100" b="1">
                <a:solidFill>
                  <a:srgbClr val="2EA043"/>
                </a:solidFill>
              </a:rPr>
              <a:t>✅  GITHUB ACTIONS FIX — check-bola.yml detects this in 15 min</a:t>
            </a:r>
          </a:p>
        </p:txBody>
      </p:sp>
      <p:sp>
        <p:nvSpPr>
          <p:cNvPr id="13" name="TextBox 12"/>
          <p:cNvSpPr txBox="1"/>
          <p:nvPr/>
        </p:nvSpPr>
        <p:spPr>
          <a:xfrm>
            <a:off x="548640" y="4343400"/>
            <a:ext cx="10972800" cy="822960"/>
          </a:xfrm>
          <a:prstGeom prst="rect">
            <a:avLst/>
          </a:prstGeom>
          <a:noFill/>
        </p:spPr>
        <p:txBody>
          <a:bodyPr wrap="square">
            <a:spAutoFit/>
          </a:bodyPr>
          <a:lstStyle/>
          <a:p>
            <a:pPr algn="l"/>
            <a:r>
              <a:rPr sz="1100" b="0">
                <a:solidFill>
                  <a:srgbClr val="2EA043"/>
                </a:solidFill>
              </a:rPr>
              <a:t>Fix: Add ownership check in GET /api/jobs/:id
  if (job.property.ownerId !== req.user.id &amp;&amp; req.user.role !== 'admin') return res.status(403).json({ error: 'Forbidden'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EA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r>
              <a:rPr sz="3200" b="1">
                <a:solidFill>
                  <a:srgbClr val="FFFFFF"/>
                </a:solidFill>
              </a:rPr>
              <a:t>GitHub Actions: 10 Security Checks, 24/7</a:t>
            </a:r>
          </a:p>
        </p:txBody>
      </p:sp>
      <p:sp>
        <p:nvSpPr>
          <p:cNvPr id="4" name="TextBox 3"/>
          <p:cNvSpPr txBox="1"/>
          <p:nvPr/>
        </p:nvSpPr>
        <p:spPr>
          <a:xfrm>
            <a:off x="457200" y="914400"/>
            <a:ext cx="10972800" cy="365760"/>
          </a:xfrm>
          <a:prstGeom prst="rect">
            <a:avLst/>
          </a:prstGeom>
          <a:noFill/>
        </p:spPr>
        <p:txBody>
          <a:bodyPr wrap="square">
            <a:spAutoFit/>
          </a:bodyPr>
          <a:lstStyle/>
          <a:p>
            <a:pPr algn="l"/>
            <a:r>
              <a:rPr sz="1600" b="0">
                <a:solidFill>
                  <a:srgbClr val="8B949E"/>
                </a:solidFill>
              </a:rPr>
              <a:t>Every vulnerability has a dedicated workflow that runs every 15 minutes automatically</a:t>
            </a:r>
          </a:p>
        </p:txBody>
      </p:sp>
      <p:sp>
        <p:nvSpPr>
          <p:cNvPr id="5" name="Rectangle 4"/>
          <p:cNvSpPr/>
          <p:nvPr/>
        </p:nvSpPr>
        <p:spPr>
          <a:xfrm>
            <a:off x="274320" y="1554480"/>
            <a:ext cx="1828800" cy="1463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554480"/>
            <a:ext cx="1828800" cy="274320"/>
          </a:xfrm>
          <a:prstGeom prst="rect">
            <a:avLst/>
          </a:prstGeom>
          <a:solidFill>
            <a:srgbClr val="2EA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572768"/>
            <a:ext cx="1737360" cy="256032"/>
          </a:xfrm>
          <a:prstGeom prst="rect">
            <a:avLst/>
          </a:prstGeom>
          <a:noFill/>
        </p:spPr>
        <p:txBody>
          <a:bodyPr wrap="square">
            <a:spAutoFit/>
          </a:bodyPr>
          <a:lstStyle/>
          <a:p>
            <a:pPr algn="l"/>
            <a:r>
              <a:rPr sz="1000" b="1">
                <a:solidFill>
                  <a:srgbClr val="FFFFFF"/>
                </a:solidFill>
              </a:rPr>
              <a:t>BOLA</a:t>
            </a:r>
          </a:p>
        </p:txBody>
      </p:sp>
      <p:sp>
        <p:nvSpPr>
          <p:cNvPr id="8" name="TextBox 7"/>
          <p:cNvSpPr txBox="1"/>
          <p:nvPr/>
        </p:nvSpPr>
        <p:spPr>
          <a:xfrm>
            <a:off x="320040" y="1920240"/>
            <a:ext cx="1737360" cy="822960"/>
          </a:xfrm>
          <a:prstGeom prst="rect">
            <a:avLst/>
          </a:prstGeom>
          <a:noFill/>
        </p:spPr>
        <p:txBody>
          <a:bodyPr wrap="square">
            <a:spAutoFit/>
          </a:bodyPr>
          <a:lstStyle/>
          <a:p>
            <a:pPr algn="l"/>
            <a:r>
              <a:rPr sz="900" b="0">
                <a:solidFill>
                  <a:srgbClr val="8B949E"/>
                </a:solidFill>
              </a:rPr>
              <a:t>check-bola.yml</a:t>
            </a:r>
          </a:p>
        </p:txBody>
      </p:sp>
      <p:sp>
        <p:nvSpPr>
          <p:cNvPr id="9" name="Rectangle 8"/>
          <p:cNvSpPr/>
          <p:nvPr/>
        </p:nvSpPr>
        <p:spPr>
          <a:xfrm>
            <a:off x="2286000" y="1554480"/>
            <a:ext cx="1828800" cy="1463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0" y="1554480"/>
            <a:ext cx="1828800" cy="274320"/>
          </a:xfrm>
          <a:prstGeom prst="rect">
            <a:avLst/>
          </a:prstGeom>
          <a:solidFill>
            <a:srgbClr val="D299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31720" y="1572768"/>
            <a:ext cx="1737360" cy="256032"/>
          </a:xfrm>
          <a:prstGeom prst="rect">
            <a:avLst/>
          </a:prstGeom>
          <a:noFill/>
        </p:spPr>
        <p:txBody>
          <a:bodyPr wrap="square">
            <a:spAutoFit/>
          </a:bodyPr>
          <a:lstStyle/>
          <a:p>
            <a:pPr algn="l"/>
            <a:r>
              <a:rPr sz="1000" b="1">
                <a:solidFill>
                  <a:srgbClr val="FFFFFF"/>
                </a:solidFill>
              </a:rPr>
              <a:t>Auth</a:t>
            </a:r>
          </a:p>
        </p:txBody>
      </p:sp>
      <p:sp>
        <p:nvSpPr>
          <p:cNvPr id="12" name="TextBox 11"/>
          <p:cNvSpPr txBox="1"/>
          <p:nvPr/>
        </p:nvSpPr>
        <p:spPr>
          <a:xfrm>
            <a:off x="2331720" y="1920240"/>
            <a:ext cx="1737360" cy="822960"/>
          </a:xfrm>
          <a:prstGeom prst="rect">
            <a:avLst/>
          </a:prstGeom>
          <a:noFill/>
        </p:spPr>
        <p:txBody>
          <a:bodyPr wrap="square">
            <a:spAutoFit/>
          </a:bodyPr>
          <a:lstStyle/>
          <a:p>
            <a:pPr algn="l"/>
            <a:r>
              <a:rPr sz="900" b="0">
                <a:solidFill>
                  <a:srgbClr val="8B949E"/>
                </a:solidFill>
              </a:rPr>
              <a:t>check-broken-auth.yml</a:t>
            </a:r>
          </a:p>
        </p:txBody>
      </p:sp>
      <p:sp>
        <p:nvSpPr>
          <p:cNvPr id="13" name="Rectangle 12"/>
          <p:cNvSpPr/>
          <p:nvPr/>
        </p:nvSpPr>
        <p:spPr>
          <a:xfrm>
            <a:off x="4297680" y="1554480"/>
            <a:ext cx="1828800" cy="1463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554480"/>
            <a:ext cx="1828800" cy="274320"/>
          </a:xfrm>
          <a:prstGeom prst="rect">
            <a:avLst/>
          </a:prstGeom>
          <a:solidFill>
            <a:srgbClr val="8957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1572768"/>
            <a:ext cx="1737360" cy="256032"/>
          </a:xfrm>
          <a:prstGeom prst="rect">
            <a:avLst/>
          </a:prstGeom>
          <a:noFill/>
        </p:spPr>
        <p:txBody>
          <a:bodyPr wrap="square">
            <a:spAutoFit/>
          </a:bodyPr>
          <a:lstStyle/>
          <a:p>
            <a:pPr algn="l"/>
            <a:r>
              <a:rPr sz="1000" b="1">
                <a:solidFill>
                  <a:srgbClr val="FFFFFF"/>
                </a:solidFill>
              </a:rPr>
              <a:t>Mass Assign</a:t>
            </a:r>
          </a:p>
        </p:txBody>
      </p:sp>
      <p:sp>
        <p:nvSpPr>
          <p:cNvPr id="16" name="TextBox 15"/>
          <p:cNvSpPr txBox="1"/>
          <p:nvPr/>
        </p:nvSpPr>
        <p:spPr>
          <a:xfrm>
            <a:off x="4343400" y="1920240"/>
            <a:ext cx="1737360" cy="822960"/>
          </a:xfrm>
          <a:prstGeom prst="rect">
            <a:avLst/>
          </a:prstGeom>
          <a:noFill/>
        </p:spPr>
        <p:txBody>
          <a:bodyPr wrap="square">
            <a:spAutoFit/>
          </a:bodyPr>
          <a:lstStyle/>
          <a:p>
            <a:pPr algn="l"/>
            <a:r>
              <a:rPr sz="900" b="0">
                <a:solidFill>
                  <a:srgbClr val="8B949E"/>
                </a:solidFill>
              </a:rPr>
              <a:t>check-mass-assignment.yml</a:t>
            </a:r>
          </a:p>
        </p:txBody>
      </p:sp>
      <p:sp>
        <p:nvSpPr>
          <p:cNvPr id="17" name="Rectangle 16"/>
          <p:cNvSpPr/>
          <p:nvPr/>
        </p:nvSpPr>
        <p:spPr>
          <a:xfrm>
            <a:off x="6309360" y="1554480"/>
            <a:ext cx="1828800" cy="1463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1554480"/>
            <a:ext cx="1828800" cy="274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572768"/>
            <a:ext cx="1737360" cy="256032"/>
          </a:xfrm>
          <a:prstGeom prst="rect">
            <a:avLst/>
          </a:prstGeom>
          <a:noFill/>
        </p:spPr>
        <p:txBody>
          <a:bodyPr wrap="square">
            <a:spAutoFit/>
          </a:bodyPr>
          <a:lstStyle/>
          <a:p>
            <a:pPr algn="l"/>
            <a:r>
              <a:rPr sz="1000" b="1">
                <a:solidFill>
                  <a:srgbClr val="FFFFFF"/>
                </a:solidFill>
              </a:rPr>
              <a:t>Rate Limit</a:t>
            </a:r>
          </a:p>
        </p:txBody>
      </p:sp>
      <p:sp>
        <p:nvSpPr>
          <p:cNvPr id="20" name="TextBox 19"/>
          <p:cNvSpPr txBox="1"/>
          <p:nvPr/>
        </p:nvSpPr>
        <p:spPr>
          <a:xfrm>
            <a:off x="6355080" y="1920240"/>
            <a:ext cx="1737360" cy="822960"/>
          </a:xfrm>
          <a:prstGeom prst="rect">
            <a:avLst/>
          </a:prstGeom>
          <a:noFill/>
        </p:spPr>
        <p:txBody>
          <a:bodyPr wrap="square">
            <a:spAutoFit/>
          </a:bodyPr>
          <a:lstStyle/>
          <a:p>
            <a:pPr algn="l"/>
            <a:r>
              <a:rPr sz="900" b="0">
                <a:solidFill>
                  <a:srgbClr val="8B949E"/>
                </a:solidFill>
              </a:rPr>
              <a:t>check-rate-limit.yml</a:t>
            </a:r>
          </a:p>
        </p:txBody>
      </p:sp>
      <p:sp>
        <p:nvSpPr>
          <p:cNvPr id="21" name="Rectangle 20"/>
          <p:cNvSpPr/>
          <p:nvPr/>
        </p:nvSpPr>
        <p:spPr>
          <a:xfrm>
            <a:off x="8321040" y="1554480"/>
            <a:ext cx="1828800" cy="1463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21040" y="1554480"/>
            <a:ext cx="1828800" cy="274320"/>
          </a:xfrm>
          <a:prstGeom prst="rect">
            <a:avLst/>
          </a:prstGeom>
          <a:solidFill>
            <a:srgbClr val="DA3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66760" y="1572768"/>
            <a:ext cx="1737360" cy="256032"/>
          </a:xfrm>
          <a:prstGeom prst="rect">
            <a:avLst/>
          </a:prstGeom>
          <a:noFill/>
        </p:spPr>
        <p:txBody>
          <a:bodyPr wrap="square">
            <a:spAutoFit/>
          </a:bodyPr>
          <a:lstStyle/>
          <a:p>
            <a:pPr algn="l"/>
            <a:r>
              <a:rPr sz="1000" b="1">
                <a:solidFill>
                  <a:srgbClr val="FFFFFF"/>
                </a:solidFill>
              </a:rPr>
              <a:t>SQL Inject</a:t>
            </a:r>
          </a:p>
        </p:txBody>
      </p:sp>
      <p:sp>
        <p:nvSpPr>
          <p:cNvPr id="24" name="TextBox 23"/>
          <p:cNvSpPr txBox="1"/>
          <p:nvPr/>
        </p:nvSpPr>
        <p:spPr>
          <a:xfrm>
            <a:off x="8366760" y="1920240"/>
            <a:ext cx="1737360" cy="822960"/>
          </a:xfrm>
          <a:prstGeom prst="rect">
            <a:avLst/>
          </a:prstGeom>
          <a:noFill/>
        </p:spPr>
        <p:txBody>
          <a:bodyPr wrap="square">
            <a:spAutoFit/>
          </a:bodyPr>
          <a:lstStyle/>
          <a:p>
            <a:pPr algn="l"/>
            <a:r>
              <a:rPr sz="900" b="0">
                <a:solidFill>
                  <a:srgbClr val="8B949E"/>
                </a:solidFill>
              </a:rPr>
              <a:t>check-sql-injection.yml</a:t>
            </a:r>
          </a:p>
        </p:txBody>
      </p:sp>
      <p:sp>
        <p:nvSpPr>
          <p:cNvPr id="25" name="Rectangle 24"/>
          <p:cNvSpPr/>
          <p:nvPr/>
        </p:nvSpPr>
        <p:spPr>
          <a:xfrm>
            <a:off x="10332720" y="1554480"/>
            <a:ext cx="1828800" cy="1463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32720" y="1554480"/>
            <a:ext cx="1828800" cy="274320"/>
          </a:xfrm>
          <a:prstGeom prst="rect">
            <a:avLst/>
          </a:prstGeom>
          <a:solidFill>
            <a:srgbClr val="DA3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78440" y="1572768"/>
            <a:ext cx="1737360" cy="256032"/>
          </a:xfrm>
          <a:prstGeom prst="rect">
            <a:avLst/>
          </a:prstGeom>
          <a:noFill/>
        </p:spPr>
        <p:txBody>
          <a:bodyPr wrap="square">
            <a:spAutoFit/>
          </a:bodyPr>
          <a:lstStyle/>
          <a:p>
            <a:pPr algn="l"/>
            <a:r>
              <a:rPr sz="1000" b="1">
                <a:solidFill>
                  <a:srgbClr val="FFFFFF"/>
                </a:solidFill>
              </a:rPr>
              <a:t>SSRF</a:t>
            </a:r>
          </a:p>
        </p:txBody>
      </p:sp>
      <p:sp>
        <p:nvSpPr>
          <p:cNvPr id="28" name="TextBox 27"/>
          <p:cNvSpPr txBox="1"/>
          <p:nvPr/>
        </p:nvSpPr>
        <p:spPr>
          <a:xfrm>
            <a:off x="10378440" y="1920240"/>
            <a:ext cx="1737360" cy="822960"/>
          </a:xfrm>
          <a:prstGeom prst="rect">
            <a:avLst/>
          </a:prstGeom>
          <a:noFill/>
        </p:spPr>
        <p:txBody>
          <a:bodyPr wrap="square">
            <a:spAutoFit/>
          </a:bodyPr>
          <a:lstStyle/>
          <a:p>
            <a:pPr algn="l"/>
            <a:r>
              <a:rPr sz="900" b="0">
                <a:solidFill>
                  <a:srgbClr val="8B949E"/>
                </a:solidFill>
              </a:rPr>
              <a:t>check-ssrf.yml</a:t>
            </a:r>
          </a:p>
        </p:txBody>
      </p:sp>
      <p:sp>
        <p:nvSpPr>
          <p:cNvPr id="29" name="Rectangle 28"/>
          <p:cNvSpPr/>
          <p:nvPr/>
        </p:nvSpPr>
        <p:spPr>
          <a:xfrm>
            <a:off x="274320" y="3200400"/>
            <a:ext cx="11430000" cy="22860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3246120"/>
            <a:ext cx="11155680" cy="320040"/>
          </a:xfrm>
          <a:prstGeom prst="rect">
            <a:avLst/>
          </a:prstGeom>
          <a:noFill/>
        </p:spPr>
        <p:txBody>
          <a:bodyPr wrap="square">
            <a:spAutoFit/>
          </a:bodyPr>
          <a:lstStyle/>
          <a:p>
            <a:pPr algn="l"/>
            <a:r>
              <a:rPr sz="1000" b="1">
                <a:solidFill>
                  <a:srgbClr val="388BFD"/>
                </a:solidFill>
              </a:rPr>
              <a:t>check-bola.yml — Detection Logic</a:t>
            </a:r>
          </a:p>
        </p:txBody>
      </p:sp>
      <p:sp>
        <p:nvSpPr>
          <p:cNvPr id="31" name="TextBox 30"/>
          <p:cNvSpPr txBox="1"/>
          <p:nvPr/>
        </p:nvSpPr>
        <p:spPr>
          <a:xfrm>
            <a:off x="365760" y="3611880"/>
            <a:ext cx="11155680" cy="201168"/>
          </a:xfrm>
          <a:prstGeom prst="rect">
            <a:avLst/>
          </a:prstGeom>
          <a:noFill/>
        </p:spPr>
        <p:txBody>
          <a:bodyPr wrap="square">
            <a:spAutoFit/>
          </a:bodyPr>
          <a:lstStyle/>
          <a:p>
            <a:pPr algn="l"/>
            <a:r>
              <a:rPr sz="800" b="0">
                <a:solidFill>
                  <a:srgbClr val="388BFD"/>
                </a:solidFill>
              </a:rPr>
              <a:t>- name: Login as Alice (victim)</a:t>
            </a:r>
          </a:p>
        </p:txBody>
      </p:sp>
      <p:sp>
        <p:nvSpPr>
          <p:cNvPr id="32" name="TextBox 31"/>
          <p:cNvSpPr txBox="1"/>
          <p:nvPr/>
        </p:nvSpPr>
        <p:spPr>
          <a:xfrm>
            <a:off x="365760" y="3813048"/>
            <a:ext cx="11155680" cy="201168"/>
          </a:xfrm>
          <a:prstGeom prst="rect">
            <a:avLst/>
          </a:prstGeom>
          <a:noFill/>
        </p:spPr>
        <p:txBody>
          <a:bodyPr wrap="square">
            <a:spAutoFit/>
          </a:bodyPr>
          <a:lstStyle/>
          <a:p>
            <a:pPr algn="l"/>
            <a:r>
              <a:rPr sz="800" b="0">
                <a:solidFill>
                  <a:srgbClr val="FFFFFF"/>
                </a:solidFill>
              </a:rPr>
              <a:t>  run: |</a:t>
            </a:r>
          </a:p>
        </p:txBody>
      </p:sp>
      <p:sp>
        <p:nvSpPr>
          <p:cNvPr id="33" name="TextBox 32"/>
          <p:cNvSpPr txBox="1"/>
          <p:nvPr/>
        </p:nvSpPr>
        <p:spPr>
          <a:xfrm>
            <a:off x="365760" y="4014215"/>
            <a:ext cx="11155680" cy="201168"/>
          </a:xfrm>
          <a:prstGeom prst="rect">
            <a:avLst/>
          </a:prstGeom>
          <a:noFill/>
        </p:spPr>
        <p:txBody>
          <a:bodyPr wrap="square">
            <a:spAutoFit/>
          </a:bodyPr>
          <a:lstStyle/>
          <a:p>
            <a:pPr algn="l"/>
            <a:r>
              <a:rPr sz="800" b="0">
                <a:solidFill>
                  <a:srgbClr val="FFFFFF"/>
                </a:solidFill>
              </a:rPr>
              <a:t>    ALICE=$(curl -s -X POST .../auth/login -d '{"email":"alice@propowner.com",...}')</a:t>
            </a:r>
          </a:p>
        </p:txBody>
      </p:sp>
      <p:sp>
        <p:nvSpPr>
          <p:cNvPr id="34" name="TextBox 33"/>
          <p:cNvSpPr txBox="1"/>
          <p:nvPr/>
        </p:nvSpPr>
        <p:spPr>
          <a:xfrm>
            <a:off x="365760" y="4215383"/>
            <a:ext cx="11155680" cy="201168"/>
          </a:xfrm>
          <a:prstGeom prst="rect">
            <a:avLst/>
          </a:prstGeom>
          <a:noFill/>
        </p:spPr>
        <p:txBody>
          <a:bodyPr wrap="square">
            <a:spAutoFit/>
          </a:bodyPr>
          <a:lstStyle/>
          <a:p>
            <a:pPr algn="l"/>
            <a:r>
              <a:rPr sz="800" b="0">
                <a:solidFill>
                  <a:srgbClr val="388BFD"/>
                </a:solidFill>
              </a:rPr>
              <a:t>- name: Bob reads Alice's job (cross-user access test)</a:t>
            </a:r>
          </a:p>
        </p:txBody>
      </p:sp>
      <p:sp>
        <p:nvSpPr>
          <p:cNvPr id="35" name="TextBox 34"/>
          <p:cNvSpPr txBox="1"/>
          <p:nvPr/>
        </p:nvSpPr>
        <p:spPr>
          <a:xfrm>
            <a:off x="365760" y="4416551"/>
            <a:ext cx="11155680" cy="201168"/>
          </a:xfrm>
          <a:prstGeom prst="rect">
            <a:avLst/>
          </a:prstGeom>
          <a:noFill/>
        </p:spPr>
        <p:txBody>
          <a:bodyPr wrap="square">
            <a:spAutoFit/>
          </a:bodyPr>
          <a:lstStyle/>
          <a:p>
            <a:pPr algn="l"/>
            <a:r>
              <a:rPr sz="800" b="0">
                <a:solidFill>
                  <a:srgbClr val="FFFFFF"/>
                </a:solidFill>
              </a:rPr>
              <a:t>  run: |</a:t>
            </a:r>
          </a:p>
        </p:txBody>
      </p:sp>
      <p:sp>
        <p:nvSpPr>
          <p:cNvPr id="36" name="TextBox 35"/>
          <p:cNvSpPr txBox="1"/>
          <p:nvPr/>
        </p:nvSpPr>
        <p:spPr>
          <a:xfrm>
            <a:off x="365760" y="4617719"/>
            <a:ext cx="11155680" cy="201168"/>
          </a:xfrm>
          <a:prstGeom prst="rect">
            <a:avLst/>
          </a:prstGeom>
          <a:noFill/>
        </p:spPr>
        <p:txBody>
          <a:bodyPr wrap="square">
            <a:spAutoFit/>
          </a:bodyPr>
          <a:lstStyle/>
          <a:p>
            <a:pPr algn="l"/>
            <a:r>
              <a:rPr sz="800" b="0">
                <a:solidFill>
                  <a:srgbClr val="FFFFFF"/>
                </a:solidFill>
              </a:rPr>
              <a:t>    HTTP=$(curl -s -o /dev/null -w '%{http_code}' -H 'Auth: $BOB_TOKEN' .../jobs/$JOB_ID)</a:t>
            </a:r>
          </a:p>
        </p:txBody>
      </p:sp>
      <p:sp>
        <p:nvSpPr>
          <p:cNvPr id="37" name="TextBox 36"/>
          <p:cNvSpPr txBox="1"/>
          <p:nvPr/>
        </p:nvSpPr>
        <p:spPr>
          <a:xfrm>
            <a:off x="365760" y="4818887"/>
            <a:ext cx="11155680" cy="201168"/>
          </a:xfrm>
          <a:prstGeom prst="rect">
            <a:avLst/>
          </a:prstGeom>
          <a:noFill/>
        </p:spPr>
        <p:txBody>
          <a:bodyPr wrap="square">
            <a:spAutoFit/>
          </a:bodyPr>
          <a:lstStyle/>
          <a:p>
            <a:pPr algn="l"/>
            <a:r>
              <a:rPr sz="800" b="0">
                <a:solidFill>
                  <a:srgbClr val="DA3633"/>
                </a:solidFill>
              </a:rPr>
              <a:t>- name: Evaluate result  ← RED if vulnerable</a:t>
            </a:r>
          </a:p>
        </p:txBody>
      </p:sp>
      <p:sp>
        <p:nvSpPr>
          <p:cNvPr id="38" name="TextBox 37"/>
          <p:cNvSpPr txBox="1"/>
          <p:nvPr/>
        </p:nvSpPr>
        <p:spPr>
          <a:xfrm>
            <a:off x="365760" y="5020055"/>
            <a:ext cx="11155680" cy="201168"/>
          </a:xfrm>
          <a:prstGeom prst="rect">
            <a:avLst/>
          </a:prstGeom>
          <a:noFill/>
        </p:spPr>
        <p:txBody>
          <a:bodyPr wrap="square">
            <a:spAutoFit/>
          </a:bodyPr>
          <a:lstStyle/>
          <a:p>
            <a:pPr algn="l"/>
            <a:r>
              <a:rPr sz="800" b="0">
                <a:solidFill>
                  <a:srgbClr val="FFFFFF"/>
                </a:solidFill>
              </a:rPr>
              <a:t>  run: |</a:t>
            </a:r>
          </a:p>
        </p:txBody>
      </p:sp>
      <p:sp>
        <p:nvSpPr>
          <p:cNvPr id="39" name="TextBox 38"/>
          <p:cNvSpPr txBox="1"/>
          <p:nvPr/>
        </p:nvSpPr>
        <p:spPr>
          <a:xfrm>
            <a:off x="365760" y="5221223"/>
            <a:ext cx="11155680" cy="201168"/>
          </a:xfrm>
          <a:prstGeom prst="rect">
            <a:avLst/>
          </a:prstGeom>
          <a:noFill/>
        </p:spPr>
        <p:txBody>
          <a:bodyPr wrap="square">
            <a:spAutoFit/>
          </a:bodyPr>
          <a:lstStyle/>
          <a:p>
            <a:pPr algn="l"/>
            <a:r>
              <a:rPr sz="800" b="0">
                <a:solidFill>
                  <a:srgbClr val="DA3633"/>
                </a:solidFill>
              </a:rPr>
              <a:t>    if [ "$HTTP" = "200" ]; then echo '::error:: VULN-1 CONFIRMED: BOLA detected'; exit 1; fi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8957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r>
              <a:rPr sz="3200" b="1">
                <a:solidFill>
                  <a:srgbClr val="FFFFFF"/>
                </a:solidFill>
              </a:rPr>
              <a:t>GitHub Advanced Security: Three Layers of Protection</a:t>
            </a:r>
          </a:p>
        </p:txBody>
      </p:sp>
      <p:sp>
        <p:nvSpPr>
          <p:cNvPr id="4" name="Rectangle 3"/>
          <p:cNvSpPr/>
          <p:nvPr/>
        </p:nvSpPr>
        <p:spPr>
          <a:xfrm>
            <a:off x="274320" y="1097280"/>
            <a:ext cx="11612880" cy="13716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43000"/>
            <a:ext cx="3200400" cy="365760"/>
          </a:xfrm>
          <a:prstGeom prst="rect">
            <a:avLst/>
          </a:prstGeom>
          <a:noFill/>
        </p:spPr>
        <p:txBody>
          <a:bodyPr wrap="square">
            <a:spAutoFit/>
          </a:bodyPr>
          <a:lstStyle/>
          <a:p>
            <a:pPr algn="l"/>
            <a:r>
              <a:rPr sz="1400" b="1">
                <a:solidFill>
                  <a:srgbClr val="1F6FEB"/>
                </a:solidFill>
              </a:rPr>
              <a:t>🔍  Code Scanning (CodeQL)</a:t>
            </a:r>
          </a:p>
        </p:txBody>
      </p:sp>
      <p:sp>
        <p:nvSpPr>
          <p:cNvPr id="6" name="TextBox 5"/>
          <p:cNvSpPr txBox="1"/>
          <p:nvPr/>
        </p:nvSpPr>
        <p:spPr>
          <a:xfrm>
            <a:off x="365760" y="1554480"/>
            <a:ext cx="11155680" cy="777240"/>
          </a:xfrm>
          <a:prstGeom prst="rect">
            <a:avLst/>
          </a:prstGeom>
          <a:noFill/>
        </p:spPr>
        <p:txBody>
          <a:bodyPr wrap="square">
            <a:spAutoFit/>
          </a:bodyPr>
          <a:lstStyle/>
          <a:p>
            <a:pPr algn="l"/>
            <a:r>
              <a:rPr sz="1100" b="0">
                <a:solidFill>
                  <a:srgbClr val="8B949E"/>
                </a:solidFill>
              </a:rPr>
              <a:t>Semantic analysis — traces data flow from source to sink.
Catches SQL injection, XSS, path traversal, command injection.
Results appear as PR comments. Blocks merge on critical alerts.
Supports: JS/TS, Python, Java, Go, C#, Ruby, Swift, Kotlin</a:t>
            </a:r>
          </a:p>
        </p:txBody>
      </p:sp>
      <p:sp>
        <p:nvSpPr>
          <p:cNvPr id="7" name="Rectangle 6"/>
          <p:cNvSpPr/>
          <p:nvPr/>
        </p:nvSpPr>
        <p:spPr>
          <a:xfrm>
            <a:off x="274320" y="2651760"/>
            <a:ext cx="11612880" cy="13716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2697479"/>
            <a:ext cx="3200400" cy="365760"/>
          </a:xfrm>
          <a:prstGeom prst="rect">
            <a:avLst/>
          </a:prstGeom>
          <a:noFill/>
        </p:spPr>
        <p:txBody>
          <a:bodyPr wrap="square">
            <a:spAutoFit/>
          </a:bodyPr>
          <a:lstStyle/>
          <a:p>
            <a:pPr algn="l"/>
            <a:r>
              <a:rPr sz="1400" b="1">
                <a:solidFill>
                  <a:srgbClr val="2EA043"/>
                </a:solidFill>
              </a:rPr>
              <a:t>🔐  Secret Scanning</a:t>
            </a:r>
          </a:p>
        </p:txBody>
      </p:sp>
      <p:sp>
        <p:nvSpPr>
          <p:cNvPr id="9" name="TextBox 8"/>
          <p:cNvSpPr txBox="1"/>
          <p:nvPr/>
        </p:nvSpPr>
        <p:spPr>
          <a:xfrm>
            <a:off x="365760" y="3108960"/>
            <a:ext cx="11155680" cy="777240"/>
          </a:xfrm>
          <a:prstGeom prst="rect">
            <a:avLst/>
          </a:prstGeom>
          <a:noFill/>
        </p:spPr>
        <p:txBody>
          <a:bodyPr wrap="square">
            <a:spAutoFit/>
          </a:bodyPr>
          <a:lstStyle/>
          <a:p>
            <a:pPr algn="l"/>
            <a:r>
              <a:rPr sz="1100" b="0">
                <a:solidFill>
                  <a:srgbClr val="8B949E"/>
                </a:solidFill>
              </a:rPr>
              <a:t>Monitors every commit on every branch in real time.
200+ secret patterns: AWS, Azure, GitHub, Stripe, Twilio...
Provider partnership: detected AWS key → AWS revokes it in &lt;30s.
Custom patterns for your internal credentials and tokens.</a:t>
            </a:r>
          </a:p>
        </p:txBody>
      </p:sp>
      <p:sp>
        <p:nvSpPr>
          <p:cNvPr id="10" name="Rectangle 9"/>
          <p:cNvSpPr/>
          <p:nvPr/>
        </p:nvSpPr>
        <p:spPr>
          <a:xfrm>
            <a:off x="274320" y="4206240"/>
            <a:ext cx="11612880" cy="13716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4251959"/>
            <a:ext cx="3200400" cy="365760"/>
          </a:xfrm>
          <a:prstGeom prst="rect">
            <a:avLst/>
          </a:prstGeom>
          <a:noFill/>
        </p:spPr>
        <p:txBody>
          <a:bodyPr wrap="square">
            <a:spAutoFit/>
          </a:bodyPr>
          <a:lstStyle/>
          <a:p>
            <a:pPr algn="l"/>
            <a:r>
              <a:rPr sz="1400" b="1">
                <a:solidFill>
                  <a:srgbClr val="D29922"/>
                </a:solidFill>
              </a:rPr>
              <a:t>📦  Dependency Review</a:t>
            </a:r>
          </a:p>
        </p:txBody>
      </p:sp>
      <p:sp>
        <p:nvSpPr>
          <p:cNvPr id="12" name="TextBox 11"/>
          <p:cNvSpPr txBox="1"/>
          <p:nvPr/>
        </p:nvSpPr>
        <p:spPr>
          <a:xfrm>
            <a:off x="365760" y="4663440"/>
            <a:ext cx="11155680" cy="777240"/>
          </a:xfrm>
          <a:prstGeom prst="rect">
            <a:avLst/>
          </a:prstGeom>
          <a:noFill/>
        </p:spPr>
        <p:txBody>
          <a:bodyPr wrap="square">
            <a:spAutoFit/>
          </a:bodyPr>
          <a:lstStyle/>
          <a:p>
            <a:pPr algn="l"/>
            <a:r>
              <a:rPr sz="1100" b="0">
                <a:solidFill>
                  <a:srgbClr val="8B949E"/>
                </a:solidFill>
              </a:rPr>
              <a:t>Tracks every package, every version, every CVE.
Dependabot alerts + automatic PRs with safe version upgrades.
PR blocking: can't merge a PR that introduces a known CVE.
Log4Shell protection: Dependabot alert fired within 13 min of CVE publish.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388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r>
              <a:rPr sz="3200" b="1">
                <a:solidFill>
                  <a:srgbClr val="FFFFFF"/>
                </a:solidFill>
              </a:rPr>
              <a:t>Copilot Autofix: From Alert to Fix in 60 Seconds</a:t>
            </a:r>
          </a:p>
        </p:txBody>
      </p:sp>
      <p:sp>
        <p:nvSpPr>
          <p:cNvPr id="4" name="TextBox 3"/>
          <p:cNvSpPr txBox="1"/>
          <p:nvPr/>
        </p:nvSpPr>
        <p:spPr>
          <a:xfrm>
            <a:off x="457200" y="914400"/>
            <a:ext cx="10972800" cy="365760"/>
          </a:xfrm>
          <a:prstGeom prst="rect">
            <a:avLst/>
          </a:prstGeom>
          <a:noFill/>
        </p:spPr>
        <p:txBody>
          <a:bodyPr wrap="square">
            <a:spAutoFit/>
          </a:bodyPr>
          <a:lstStyle/>
          <a:p>
            <a:pPr algn="l"/>
            <a:r>
              <a:rPr sz="1600" b="0">
                <a:solidFill>
                  <a:srgbClr val="8B949E"/>
                </a:solidFill>
              </a:rPr>
              <a:t>GHAS doesn't just find the vulnerability — Copilot writes the fix, right in the PR</a:t>
            </a:r>
          </a:p>
        </p:txBody>
      </p:sp>
      <p:sp>
        <p:nvSpPr>
          <p:cNvPr id="5" name="Rectangle 4"/>
          <p:cNvSpPr/>
          <p:nvPr/>
        </p:nvSpPr>
        <p:spPr>
          <a:xfrm>
            <a:off x="274320" y="1463040"/>
            <a:ext cx="5486400" cy="41148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508760"/>
            <a:ext cx="5303520" cy="320040"/>
          </a:xfrm>
          <a:prstGeom prst="rect">
            <a:avLst/>
          </a:prstGeom>
          <a:noFill/>
        </p:spPr>
        <p:txBody>
          <a:bodyPr wrap="square">
            <a:spAutoFit/>
          </a:bodyPr>
          <a:lstStyle/>
          <a:p>
            <a:pPr algn="l"/>
            <a:r>
              <a:rPr sz="1100" b="1">
                <a:solidFill>
                  <a:srgbClr val="DA3633"/>
                </a:solidFill>
              </a:rPr>
              <a:t>❌  BEFORE: SQL Injection (VULN-8)</a:t>
            </a:r>
          </a:p>
        </p:txBody>
      </p:sp>
      <p:sp>
        <p:nvSpPr>
          <p:cNvPr id="7" name="TextBox 6"/>
          <p:cNvSpPr txBox="1"/>
          <p:nvPr/>
        </p:nvSpPr>
        <p:spPr>
          <a:xfrm>
            <a:off x="365760" y="1920240"/>
            <a:ext cx="5303520" cy="3200400"/>
          </a:xfrm>
          <a:prstGeom prst="rect">
            <a:avLst/>
          </a:prstGeom>
          <a:noFill/>
        </p:spPr>
        <p:txBody>
          <a:bodyPr wrap="square">
            <a:spAutoFit/>
          </a:bodyPr>
          <a:lstStyle/>
          <a:p>
            <a:pPr algn="l"/>
            <a:r>
              <a:rPr sz="900" b="0">
                <a:solidFill>
                  <a:srgbClr val="DA3633"/>
                </a:solidFill>
              </a:rPr>
              <a:t>// VULN-8: Raw string concatenation
const query = `
  SELECT * FROM properties
  WHERE name ILIKE '%${req.query.q}%'
  OR city ILIKE '%${req.query.q}%'
`;
const result = await pool.query(query);
// Payload: ' OR 1=1 --
// Returns: EVERY row in the table</a:t>
            </a:r>
          </a:p>
        </p:txBody>
      </p:sp>
      <p:sp>
        <p:nvSpPr>
          <p:cNvPr id="8" name="Rectangle 7"/>
          <p:cNvSpPr/>
          <p:nvPr/>
        </p:nvSpPr>
        <p:spPr>
          <a:xfrm>
            <a:off x="6035040" y="1463040"/>
            <a:ext cx="5760720" cy="4114800"/>
          </a:xfrm>
          <a:prstGeom prst="rect">
            <a:avLst/>
          </a:prstGeom>
          <a:solidFill>
            <a:srgbClr val="0A2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508760"/>
            <a:ext cx="5577840" cy="320040"/>
          </a:xfrm>
          <a:prstGeom prst="rect">
            <a:avLst/>
          </a:prstGeom>
          <a:noFill/>
        </p:spPr>
        <p:txBody>
          <a:bodyPr wrap="square">
            <a:spAutoFit/>
          </a:bodyPr>
          <a:lstStyle/>
          <a:p>
            <a:pPr algn="l"/>
            <a:r>
              <a:rPr sz="1100" b="1">
                <a:solidFill>
                  <a:srgbClr val="2EA043"/>
                </a:solidFill>
              </a:rPr>
              <a:t>✅  COPILOT AUTOFIX: Parameterized Query</a:t>
            </a:r>
          </a:p>
        </p:txBody>
      </p:sp>
      <p:sp>
        <p:nvSpPr>
          <p:cNvPr id="10" name="TextBox 9"/>
          <p:cNvSpPr txBox="1"/>
          <p:nvPr/>
        </p:nvSpPr>
        <p:spPr>
          <a:xfrm>
            <a:off x="6126480" y="1920240"/>
            <a:ext cx="5577840" cy="3200400"/>
          </a:xfrm>
          <a:prstGeom prst="rect">
            <a:avLst/>
          </a:prstGeom>
          <a:noFill/>
        </p:spPr>
        <p:txBody>
          <a:bodyPr wrap="square">
            <a:spAutoFit/>
          </a:bodyPr>
          <a:lstStyle/>
          <a:p>
            <a:pPr algn="l"/>
            <a:r>
              <a:rPr sz="900" b="0">
                <a:solidFill>
                  <a:srgbClr val="2EA043"/>
                </a:solidFill>
              </a:rPr>
              <a:t>// Copilot Autofix: parameterized query
const searchTerm = `%${req.query.q}%`;
const query = `
  SELECT * FROM properties
  WHERE name ILIKE $1
  OR city ILIKE $1
`;
const result = await pool.query(
  query, [searchTerm]
);
// SQL injection: impossible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2EA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r>
              <a:rPr sz="3200" b="1">
                <a:solidFill>
                  <a:srgbClr val="FFFFFF"/>
                </a:solidFill>
              </a:rPr>
              <a:t>The ROI: GitHub vs. Status Quo</a:t>
            </a:r>
          </a:p>
        </p:txBody>
      </p:sp>
      <p:sp>
        <p:nvSpPr>
          <p:cNvPr id="4" name="Rectangle 3"/>
          <p:cNvSpPr/>
          <p:nvPr/>
        </p:nvSpPr>
        <p:spPr>
          <a:xfrm>
            <a:off x="274320" y="1005840"/>
            <a:ext cx="2880360" cy="41148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51560"/>
            <a:ext cx="2788920" cy="320040"/>
          </a:xfrm>
          <a:prstGeom prst="rect">
            <a:avLst/>
          </a:prstGeom>
          <a:noFill/>
        </p:spPr>
        <p:txBody>
          <a:bodyPr wrap="square">
            <a:spAutoFit/>
          </a:bodyPr>
          <a:lstStyle/>
          <a:p>
            <a:pPr algn="ctr"/>
            <a:r>
              <a:rPr sz="1000" b="1">
                <a:solidFill>
                  <a:srgbClr val="FFFFFF"/>
                </a:solidFill>
              </a:rPr>
              <a:t>METRIC</a:t>
            </a:r>
          </a:p>
        </p:txBody>
      </p:sp>
      <p:sp>
        <p:nvSpPr>
          <p:cNvPr id="6" name="Rectangle 5"/>
          <p:cNvSpPr/>
          <p:nvPr/>
        </p:nvSpPr>
        <p:spPr>
          <a:xfrm>
            <a:off x="3200400" y="1005840"/>
            <a:ext cx="2514600" cy="411480"/>
          </a:xfrm>
          <a:prstGeom prst="rect">
            <a:avLst/>
          </a:prstGeom>
          <a:solidFill>
            <a:srgbClr val="DA3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46120" y="1051560"/>
            <a:ext cx="2423160" cy="320040"/>
          </a:xfrm>
          <a:prstGeom prst="rect">
            <a:avLst/>
          </a:prstGeom>
          <a:noFill/>
        </p:spPr>
        <p:txBody>
          <a:bodyPr wrap="square">
            <a:spAutoFit/>
          </a:bodyPr>
          <a:lstStyle/>
          <a:p>
            <a:pPr algn="ctr"/>
            <a:r>
              <a:rPr sz="1000" b="1">
                <a:solidFill>
                  <a:srgbClr val="FFFFFF"/>
                </a:solidFill>
              </a:rPr>
              <a:t>WITHOUT GITHUB</a:t>
            </a:r>
          </a:p>
        </p:txBody>
      </p:sp>
      <p:sp>
        <p:nvSpPr>
          <p:cNvPr id="8" name="Rectangle 7"/>
          <p:cNvSpPr/>
          <p:nvPr/>
        </p:nvSpPr>
        <p:spPr>
          <a:xfrm>
            <a:off x="5760720" y="1005840"/>
            <a:ext cx="2697480" cy="411480"/>
          </a:xfrm>
          <a:prstGeom prst="rect">
            <a:avLst/>
          </a:prstGeom>
          <a:solidFill>
            <a:srgbClr val="2EA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06440" y="1051560"/>
            <a:ext cx="2606040" cy="320040"/>
          </a:xfrm>
          <a:prstGeom prst="rect">
            <a:avLst/>
          </a:prstGeom>
          <a:noFill/>
        </p:spPr>
        <p:txBody>
          <a:bodyPr wrap="square">
            <a:spAutoFit/>
          </a:bodyPr>
          <a:lstStyle/>
          <a:p>
            <a:pPr algn="ctr"/>
            <a:r>
              <a:rPr sz="1000" b="1">
                <a:solidFill>
                  <a:srgbClr val="FFFFFF"/>
                </a:solidFill>
              </a:rPr>
              <a:t>WITH GITHUB</a:t>
            </a:r>
          </a:p>
        </p:txBody>
      </p:sp>
      <p:sp>
        <p:nvSpPr>
          <p:cNvPr id="10" name="Rectangle 9"/>
          <p:cNvSpPr/>
          <p:nvPr/>
        </p:nvSpPr>
        <p:spPr>
          <a:xfrm>
            <a:off x="8503920" y="1005840"/>
            <a:ext cx="3154680" cy="411480"/>
          </a:xfrm>
          <a:prstGeom prst="rect">
            <a:avLst/>
          </a:prstGeom>
          <a:solidFill>
            <a:srgbClr val="388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49640" y="1051560"/>
            <a:ext cx="3063240" cy="320040"/>
          </a:xfrm>
          <a:prstGeom prst="rect">
            <a:avLst/>
          </a:prstGeom>
          <a:noFill/>
        </p:spPr>
        <p:txBody>
          <a:bodyPr wrap="square">
            <a:spAutoFit/>
          </a:bodyPr>
          <a:lstStyle/>
          <a:p>
            <a:pPr algn="ctr"/>
            <a:r>
              <a:rPr sz="1000" b="1">
                <a:solidFill>
                  <a:srgbClr val="FFFFFF"/>
                </a:solidFill>
              </a:rPr>
              <a:t>IMPROVEMENT</a:t>
            </a:r>
          </a:p>
        </p:txBody>
      </p:sp>
      <p:sp>
        <p:nvSpPr>
          <p:cNvPr id="12" name="Rectangle 11"/>
          <p:cNvSpPr/>
          <p:nvPr/>
        </p:nvSpPr>
        <p:spPr>
          <a:xfrm>
            <a:off x="274320" y="1463040"/>
            <a:ext cx="2880360" cy="4572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1508760"/>
            <a:ext cx="2788920" cy="384048"/>
          </a:xfrm>
          <a:prstGeom prst="rect">
            <a:avLst/>
          </a:prstGeom>
          <a:noFill/>
        </p:spPr>
        <p:txBody>
          <a:bodyPr wrap="square">
            <a:spAutoFit/>
          </a:bodyPr>
          <a:lstStyle/>
          <a:p>
            <a:pPr algn="l"/>
            <a:r>
              <a:rPr sz="1000" b="0">
                <a:solidFill>
                  <a:srgbClr val="FFFFFF"/>
                </a:solidFill>
              </a:rPr>
              <a:t>Vulnerability detection</a:t>
            </a:r>
          </a:p>
        </p:txBody>
      </p:sp>
      <p:sp>
        <p:nvSpPr>
          <p:cNvPr id="14" name="Rectangle 13"/>
          <p:cNvSpPr/>
          <p:nvPr/>
        </p:nvSpPr>
        <p:spPr>
          <a:xfrm>
            <a:off x="3200400" y="1463040"/>
            <a:ext cx="2514600" cy="457200"/>
          </a:xfrm>
          <a:prstGeom prst="rect">
            <a:avLst/>
          </a:prstGeom>
          <a:solidFill>
            <a:srgbClr val="2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46120" y="1508760"/>
            <a:ext cx="2423160" cy="384048"/>
          </a:xfrm>
          <a:prstGeom prst="rect">
            <a:avLst/>
          </a:prstGeom>
          <a:noFill/>
        </p:spPr>
        <p:txBody>
          <a:bodyPr wrap="square">
            <a:spAutoFit/>
          </a:bodyPr>
          <a:lstStyle/>
          <a:p>
            <a:pPr algn="l"/>
            <a:r>
              <a:rPr sz="1000" b="0">
                <a:solidFill>
                  <a:srgbClr val="DA3633"/>
                </a:solidFill>
              </a:rPr>
              <a:t>Quarterly pen test</a:t>
            </a:r>
          </a:p>
        </p:txBody>
      </p:sp>
      <p:sp>
        <p:nvSpPr>
          <p:cNvPr id="16" name="Rectangle 15"/>
          <p:cNvSpPr/>
          <p:nvPr/>
        </p:nvSpPr>
        <p:spPr>
          <a:xfrm>
            <a:off x="5760720" y="1463040"/>
            <a:ext cx="2697480" cy="457200"/>
          </a:xfrm>
          <a:prstGeom prst="rect">
            <a:avLst/>
          </a:prstGeom>
          <a:solidFill>
            <a:srgbClr val="0A2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06440" y="1508760"/>
            <a:ext cx="2606040" cy="384048"/>
          </a:xfrm>
          <a:prstGeom prst="rect">
            <a:avLst/>
          </a:prstGeom>
          <a:noFill/>
        </p:spPr>
        <p:txBody>
          <a:bodyPr wrap="square">
            <a:spAutoFit/>
          </a:bodyPr>
          <a:lstStyle/>
          <a:p>
            <a:pPr algn="l"/>
            <a:r>
              <a:rPr sz="1000" b="0">
                <a:solidFill>
                  <a:srgbClr val="2EA043"/>
                </a:solidFill>
              </a:rPr>
              <a:t>Every 15 minutes</a:t>
            </a:r>
          </a:p>
        </p:txBody>
      </p:sp>
      <p:sp>
        <p:nvSpPr>
          <p:cNvPr id="18" name="Rectangle 17"/>
          <p:cNvSpPr/>
          <p:nvPr/>
        </p:nvSpPr>
        <p:spPr>
          <a:xfrm>
            <a:off x="8503920" y="1463040"/>
            <a:ext cx="3154680" cy="4572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1508760"/>
            <a:ext cx="3063240" cy="384048"/>
          </a:xfrm>
          <a:prstGeom prst="rect">
            <a:avLst/>
          </a:prstGeom>
          <a:noFill/>
        </p:spPr>
        <p:txBody>
          <a:bodyPr wrap="square">
            <a:spAutoFit/>
          </a:bodyPr>
          <a:lstStyle/>
          <a:p>
            <a:pPr algn="l"/>
            <a:r>
              <a:rPr sz="1000" b="0">
                <a:solidFill>
                  <a:srgbClr val="388BFD"/>
                </a:solidFill>
              </a:rPr>
              <a:t>96× per day vs 4× per year</a:t>
            </a:r>
          </a:p>
        </p:txBody>
      </p:sp>
      <p:sp>
        <p:nvSpPr>
          <p:cNvPr id="20" name="Rectangle 19"/>
          <p:cNvSpPr/>
          <p:nvPr/>
        </p:nvSpPr>
        <p:spPr>
          <a:xfrm>
            <a:off x="274320" y="1965960"/>
            <a:ext cx="2880360" cy="4572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2011680"/>
            <a:ext cx="2788920" cy="384048"/>
          </a:xfrm>
          <a:prstGeom prst="rect">
            <a:avLst/>
          </a:prstGeom>
          <a:noFill/>
        </p:spPr>
        <p:txBody>
          <a:bodyPr wrap="square">
            <a:spAutoFit/>
          </a:bodyPr>
          <a:lstStyle/>
          <a:p>
            <a:pPr algn="l"/>
            <a:r>
              <a:rPr sz="1000" b="0">
                <a:solidFill>
                  <a:srgbClr val="FFFFFF"/>
                </a:solidFill>
              </a:rPr>
              <a:t>Detection lag</a:t>
            </a:r>
          </a:p>
        </p:txBody>
      </p:sp>
      <p:sp>
        <p:nvSpPr>
          <p:cNvPr id="22" name="Rectangle 21"/>
          <p:cNvSpPr/>
          <p:nvPr/>
        </p:nvSpPr>
        <p:spPr>
          <a:xfrm>
            <a:off x="3200400" y="1965960"/>
            <a:ext cx="2514600" cy="457200"/>
          </a:xfrm>
          <a:prstGeom prst="rect">
            <a:avLst/>
          </a:prstGeom>
          <a:solidFill>
            <a:srgbClr val="2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6120" y="2011680"/>
            <a:ext cx="2423160" cy="384048"/>
          </a:xfrm>
          <a:prstGeom prst="rect">
            <a:avLst/>
          </a:prstGeom>
          <a:noFill/>
        </p:spPr>
        <p:txBody>
          <a:bodyPr wrap="square">
            <a:spAutoFit/>
          </a:bodyPr>
          <a:lstStyle/>
          <a:p>
            <a:pPr algn="l"/>
            <a:r>
              <a:rPr sz="1000" b="0">
                <a:solidFill>
                  <a:srgbClr val="DA3633"/>
                </a:solidFill>
              </a:rPr>
              <a:t>3–18 months</a:t>
            </a:r>
          </a:p>
        </p:txBody>
      </p:sp>
      <p:sp>
        <p:nvSpPr>
          <p:cNvPr id="24" name="Rectangle 23"/>
          <p:cNvSpPr/>
          <p:nvPr/>
        </p:nvSpPr>
        <p:spPr>
          <a:xfrm>
            <a:off x="5760720" y="1965960"/>
            <a:ext cx="2697480" cy="457200"/>
          </a:xfrm>
          <a:prstGeom prst="rect">
            <a:avLst/>
          </a:prstGeom>
          <a:solidFill>
            <a:srgbClr val="0A2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06440" y="2011680"/>
            <a:ext cx="2606040" cy="384048"/>
          </a:xfrm>
          <a:prstGeom prst="rect">
            <a:avLst/>
          </a:prstGeom>
          <a:noFill/>
        </p:spPr>
        <p:txBody>
          <a:bodyPr wrap="square">
            <a:spAutoFit/>
          </a:bodyPr>
          <a:lstStyle/>
          <a:p>
            <a:pPr algn="l"/>
            <a:r>
              <a:rPr sz="1000" b="0">
                <a:solidFill>
                  <a:srgbClr val="2EA043"/>
                </a:solidFill>
              </a:rPr>
              <a:t>Minutes after commit</a:t>
            </a:r>
          </a:p>
        </p:txBody>
      </p:sp>
      <p:sp>
        <p:nvSpPr>
          <p:cNvPr id="26" name="Rectangle 25"/>
          <p:cNvSpPr/>
          <p:nvPr/>
        </p:nvSpPr>
        <p:spPr>
          <a:xfrm>
            <a:off x="8503920" y="1965960"/>
            <a:ext cx="3154680" cy="4572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40" y="2011680"/>
            <a:ext cx="3063240" cy="384048"/>
          </a:xfrm>
          <a:prstGeom prst="rect">
            <a:avLst/>
          </a:prstGeom>
          <a:noFill/>
        </p:spPr>
        <p:txBody>
          <a:bodyPr wrap="square">
            <a:spAutoFit/>
          </a:bodyPr>
          <a:lstStyle/>
          <a:p>
            <a:pPr algn="l"/>
            <a:r>
              <a:rPr sz="1000" b="0">
                <a:solidFill>
                  <a:srgbClr val="388BFD"/>
                </a:solidFill>
              </a:rPr>
              <a:t>99%+ reduction</a:t>
            </a:r>
          </a:p>
        </p:txBody>
      </p:sp>
      <p:sp>
        <p:nvSpPr>
          <p:cNvPr id="28" name="Rectangle 27"/>
          <p:cNvSpPr/>
          <p:nvPr/>
        </p:nvSpPr>
        <p:spPr>
          <a:xfrm>
            <a:off x="274320" y="2468880"/>
            <a:ext cx="2880360" cy="4572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2514600"/>
            <a:ext cx="2788920" cy="384048"/>
          </a:xfrm>
          <a:prstGeom prst="rect">
            <a:avLst/>
          </a:prstGeom>
          <a:noFill/>
        </p:spPr>
        <p:txBody>
          <a:bodyPr wrap="square">
            <a:spAutoFit/>
          </a:bodyPr>
          <a:lstStyle/>
          <a:p>
            <a:pPr algn="l"/>
            <a:r>
              <a:rPr sz="1000" b="0">
                <a:solidFill>
                  <a:srgbClr val="FFFFFF"/>
                </a:solidFill>
              </a:rPr>
              <a:t>Remediation time</a:t>
            </a:r>
          </a:p>
        </p:txBody>
      </p:sp>
      <p:sp>
        <p:nvSpPr>
          <p:cNvPr id="30" name="Rectangle 29"/>
          <p:cNvSpPr/>
          <p:nvPr/>
        </p:nvSpPr>
        <p:spPr>
          <a:xfrm>
            <a:off x="3200400" y="2468880"/>
            <a:ext cx="2514600" cy="457200"/>
          </a:xfrm>
          <a:prstGeom prst="rect">
            <a:avLst/>
          </a:prstGeom>
          <a:solidFill>
            <a:srgbClr val="2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6120" y="2514600"/>
            <a:ext cx="2423160" cy="384048"/>
          </a:xfrm>
          <a:prstGeom prst="rect">
            <a:avLst/>
          </a:prstGeom>
          <a:noFill/>
        </p:spPr>
        <p:txBody>
          <a:bodyPr wrap="square">
            <a:spAutoFit/>
          </a:bodyPr>
          <a:lstStyle/>
          <a:p>
            <a:pPr algn="l"/>
            <a:r>
              <a:rPr sz="1000" b="0">
                <a:solidFill>
                  <a:srgbClr val="DA3633"/>
                </a:solidFill>
              </a:rPr>
              <a:t>4–8 weeks</a:t>
            </a:r>
          </a:p>
        </p:txBody>
      </p:sp>
      <p:sp>
        <p:nvSpPr>
          <p:cNvPr id="32" name="Rectangle 31"/>
          <p:cNvSpPr/>
          <p:nvPr/>
        </p:nvSpPr>
        <p:spPr>
          <a:xfrm>
            <a:off x="5760720" y="2468880"/>
            <a:ext cx="2697480" cy="457200"/>
          </a:xfrm>
          <a:prstGeom prst="rect">
            <a:avLst/>
          </a:prstGeom>
          <a:solidFill>
            <a:srgbClr val="0A2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06440" y="2514600"/>
            <a:ext cx="2606040" cy="384048"/>
          </a:xfrm>
          <a:prstGeom prst="rect">
            <a:avLst/>
          </a:prstGeom>
          <a:noFill/>
        </p:spPr>
        <p:txBody>
          <a:bodyPr wrap="square">
            <a:spAutoFit/>
          </a:bodyPr>
          <a:lstStyle/>
          <a:p>
            <a:pPr algn="l"/>
            <a:r>
              <a:rPr sz="1000" b="0">
                <a:solidFill>
                  <a:srgbClr val="2EA043"/>
                </a:solidFill>
              </a:rPr>
              <a:t>Same-day with Autofix</a:t>
            </a:r>
          </a:p>
        </p:txBody>
      </p:sp>
      <p:sp>
        <p:nvSpPr>
          <p:cNvPr id="34" name="Rectangle 33"/>
          <p:cNvSpPr/>
          <p:nvPr/>
        </p:nvSpPr>
        <p:spPr>
          <a:xfrm>
            <a:off x="8503920" y="2468880"/>
            <a:ext cx="3154680" cy="4572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49640" y="2514600"/>
            <a:ext cx="3063240" cy="384048"/>
          </a:xfrm>
          <a:prstGeom prst="rect">
            <a:avLst/>
          </a:prstGeom>
          <a:noFill/>
        </p:spPr>
        <p:txBody>
          <a:bodyPr wrap="square">
            <a:spAutoFit/>
          </a:bodyPr>
          <a:lstStyle/>
          <a:p>
            <a:pPr algn="l"/>
            <a:r>
              <a:rPr sz="1000" b="0">
                <a:solidFill>
                  <a:srgbClr val="388BFD"/>
                </a:solidFill>
              </a:rPr>
              <a:t>60% faster (GitHub data)</a:t>
            </a:r>
          </a:p>
        </p:txBody>
      </p:sp>
      <p:sp>
        <p:nvSpPr>
          <p:cNvPr id="36" name="Rectangle 35"/>
          <p:cNvSpPr/>
          <p:nvPr/>
        </p:nvSpPr>
        <p:spPr>
          <a:xfrm>
            <a:off x="274320" y="2971800"/>
            <a:ext cx="2880360" cy="4572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 y="3017520"/>
            <a:ext cx="2788920" cy="384048"/>
          </a:xfrm>
          <a:prstGeom prst="rect">
            <a:avLst/>
          </a:prstGeom>
          <a:noFill/>
        </p:spPr>
        <p:txBody>
          <a:bodyPr wrap="square">
            <a:spAutoFit/>
          </a:bodyPr>
          <a:lstStyle/>
          <a:p>
            <a:pPr algn="l"/>
            <a:r>
              <a:rPr sz="1000" b="0">
                <a:solidFill>
                  <a:srgbClr val="FFFFFF"/>
                </a:solidFill>
              </a:rPr>
              <a:t>Security expertise needed</a:t>
            </a:r>
          </a:p>
        </p:txBody>
      </p:sp>
      <p:sp>
        <p:nvSpPr>
          <p:cNvPr id="38" name="Rectangle 37"/>
          <p:cNvSpPr/>
          <p:nvPr/>
        </p:nvSpPr>
        <p:spPr>
          <a:xfrm>
            <a:off x="3200400" y="2971800"/>
            <a:ext cx="2514600" cy="457200"/>
          </a:xfrm>
          <a:prstGeom prst="rect">
            <a:avLst/>
          </a:prstGeom>
          <a:solidFill>
            <a:srgbClr val="2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46120" y="3017520"/>
            <a:ext cx="2423160" cy="384048"/>
          </a:xfrm>
          <a:prstGeom prst="rect">
            <a:avLst/>
          </a:prstGeom>
          <a:noFill/>
        </p:spPr>
        <p:txBody>
          <a:bodyPr wrap="square">
            <a:spAutoFit/>
          </a:bodyPr>
          <a:lstStyle/>
          <a:p>
            <a:pPr algn="l"/>
            <a:r>
              <a:rPr sz="1000" b="0">
                <a:solidFill>
                  <a:srgbClr val="DA3633"/>
                </a:solidFill>
              </a:rPr>
              <a:t>Dedicated AppSec team</a:t>
            </a:r>
          </a:p>
        </p:txBody>
      </p:sp>
      <p:sp>
        <p:nvSpPr>
          <p:cNvPr id="40" name="Rectangle 39"/>
          <p:cNvSpPr/>
          <p:nvPr/>
        </p:nvSpPr>
        <p:spPr>
          <a:xfrm>
            <a:off x="5760720" y="2971800"/>
            <a:ext cx="2697480" cy="457200"/>
          </a:xfrm>
          <a:prstGeom prst="rect">
            <a:avLst/>
          </a:prstGeom>
          <a:solidFill>
            <a:srgbClr val="0A2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06440" y="3017520"/>
            <a:ext cx="2606040" cy="384048"/>
          </a:xfrm>
          <a:prstGeom prst="rect">
            <a:avLst/>
          </a:prstGeom>
          <a:noFill/>
        </p:spPr>
        <p:txBody>
          <a:bodyPr wrap="square">
            <a:spAutoFit/>
          </a:bodyPr>
          <a:lstStyle/>
          <a:p>
            <a:pPr algn="l"/>
            <a:r>
              <a:rPr sz="1000" b="0">
                <a:solidFill>
                  <a:srgbClr val="2EA043"/>
                </a:solidFill>
              </a:rPr>
              <a:t>Any developer</a:t>
            </a:r>
          </a:p>
        </p:txBody>
      </p:sp>
      <p:sp>
        <p:nvSpPr>
          <p:cNvPr id="42" name="Rectangle 41"/>
          <p:cNvSpPr/>
          <p:nvPr/>
        </p:nvSpPr>
        <p:spPr>
          <a:xfrm>
            <a:off x="8503920" y="2971800"/>
            <a:ext cx="3154680" cy="4572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49640" y="3017520"/>
            <a:ext cx="3063240" cy="384048"/>
          </a:xfrm>
          <a:prstGeom prst="rect">
            <a:avLst/>
          </a:prstGeom>
          <a:noFill/>
        </p:spPr>
        <p:txBody>
          <a:bodyPr wrap="square">
            <a:spAutoFit/>
          </a:bodyPr>
          <a:lstStyle/>
          <a:p>
            <a:pPr algn="l"/>
            <a:r>
              <a:rPr sz="1000" b="0">
                <a:solidFill>
                  <a:srgbClr val="388BFD"/>
                </a:solidFill>
              </a:rPr>
              <a:t>No specialist required</a:t>
            </a:r>
          </a:p>
        </p:txBody>
      </p:sp>
      <p:sp>
        <p:nvSpPr>
          <p:cNvPr id="44" name="Rectangle 43"/>
          <p:cNvSpPr/>
          <p:nvPr/>
        </p:nvSpPr>
        <p:spPr>
          <a:xfrm>
            <a:off x="274320" y="3474720"/>
            <a:ext cx="2880360" cy="4572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0040" y="3520439"/>
            <a:ext cx="2788920" cy="384048"/>
          </a:xfrm>
          <a:prstGeom prst="rect">
            <a:avLst/>
          </a:prstGeom>
          <a:noFill/>
        </p:spPr>
        <p:txBody>
          <a:bodyPr wrap="square">
            <a:spAutoFit/>
          </a:bodyPr>
          <a:lstStyle/>
          <a:p>
            <a:pPr algn="l"/>
            <a:r>
              <a:rPr sz="1000" b="0">
                <a:solidFill>
                  <a:srgbClr val="FFFFFF"/>
                </a:solidFill>
              </a:rPr>
              <a:t>Compliance audit prep</a:t>
            </a:r>
          </a:p>
        </p:txBody>
      </p:sp>
      <p:sp>
        <p:nvSpPr>
          <p:cNvPr id="46" name="Rectangle 45"/>
          <p:cNvSpPr/>
          <p:nvPr/>
        </p:nvSpPr>
        <p:spPr>
          <a:xfrm>
            <a:off x="3200400" y="3474720"/>
            <a:ext cx="2514600" cy="457200"/>
          </a:xfrm>
          <a:prstGeom prst="rect">
            <a:avLst/>
          </a:prstGeom>
          <a:solidFill>
            <a:srgbClr val="2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46120" y="3520439"/>
            <a:ext cx="2423160" cy="384048"/>
          </a:xfrm>
          <a:prstGeom prst="rect">
            <a:avLst/>
          </a:prstGeom>
          <a:noFill/>
        </p:spPr>
        <p:txBody>
          <a:bodyPr wrap="square">
            <a:spAutoFit/>
          </a:bodyPr>
          <a:lstStyle/>
          <a:p>
            <a:pPr algn="l"/>
            <a:r>
              <a:rPr sz="1000" b="0">
                <a:solidFill>
                  <a:srgbClr val="DA3633"/>
                </a:solidFill>
              </a:rPr>
              <a:t>Manual, weeks</a:t>
            </a:r>
          </a:p>
        </p:txBody>
      </p:sp>
      <p:sp>
        <p:nvSpPr>
          <p:cNvPr id="48" name="Rectangle 47"/>
          <p:cNvSpPr/>
          <p:nvPr/>
        </p:nvSpPr>
        <p:spPr>
          <a:xfrm>
            <a:off x="5760720" y="3474720"/>
            <a:ext cx="2697480" cy="457200"/>
          </a:xfrm>
          <a:prstGeom prst="rect">
            <a:avLst/>
          </a:prstGeom>
          <a:solidFill>
            <a:srgbClr val="0A2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806440" y="3520439"/>
            <a:ext cx="2606040" cy="384048"/>
          </a:xfrm>
          <a:prstGeom prst="rect">
            <a:avLst/>
          </a:prstGeom>
          <a:noFill/>
        </p:spPr>
        <p:txBody>
          <a:bodyPr wrap="square">
            <a:spAutoFit/>
          </a:bodyPr>
          <a:lstStyle/>
          <a:p>
            <a:pPr algn="l"/>
            <a:r>
              <a:rPr sz="1000" b="0">
                <a:solidFill>
                  <a:srgbClr val="2EA043"/>
                </a:solidFill>
              </a:rPr>
              <a:t>Automated, days</a:t>
            </a:r>
          </a:p>
        </p:txBody>
      </p:sp>
      <p:sp>
        <p:nvSpPr>
          <p:cNvPr id="50" name="Rectangle 49"/>
          <p:cNvSpPr/>
          <p:nvPr/>
        </p:nvSpPr>
        <p:spPr>
          <a:xfrm>
            <a:off x="8503920" y="3474720"/>
            <a:ext cx="3154680" cy="4572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49640" y="3520439"/>
            <a:ext cx="3063240" cy="384048"/>
          </a:xfrm>
          <a:prstGeom prst="rect">
            <a:avLst/>
          </a:prstGeom>
          <a:noFill/>
        </p:spPr>
        <p:txBody>
          <a:bodyPr wrap="square">
            <a:spAutoFit/>
          </a:bodyPr>
          <a:lstStyle/>
          <a:p>
            <a:pPr algn="l"/>
            <a:r>
              <a:rPr sz="1000" b="0">
                <a:solidFill>
                  <a:srgbClr val="388BFD"/>
                </a:solidFill>
              </a:rPr>
              <a:t>80% time reduction</a:t>
            </a:r>
          </a:p>
        </p:txBody>
      </p:sp>
      <p:sp>
        <p:nvSpPr>
          <p:cNvPr id="52" name="Rectangle 51"/>
          <p:cNvSpPr/>
          <p:nvPr/>
        </p:nvSpPr>
        <p:spPr>
          <a:xfrm>
            <a:off x="274320" y="3977639"/>
            <a:ext cx="2880360" cy="4572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20040" y="4023359"/>
            <a:ext cx="2788920" cy="384048"/>
          </a:xfrm>
          <a:prstGeom prst="rect">
            <a:avLst/>
          </a:prstGeom>
          <a:noFill/>
        </p:spPr>
        <p:txBody>
          <a:bodyPr wrap="square">
            <a:spAutoFit/>
          </a:bodyPr>
          <a:lstStyle/>
          <a:p>
            <a:pPr algn="l"/>
            <a:r>
              <a:rPr sz="1000" b="0">
                <a:solidFill>
                  <a:srgbClr val="FFFFFF"/>
                </a:solidFill>
              </a:rPr>
              <a:t>Breach probability</a:t>
            </a:r>
          </a:p>
        </p:txBody>
      </p:sp>
      <p:sp>
        <p:nvSpPr>
          <p:cNvPr id="54" name="Rectangle 53"/>
          <p:cNvSpPr/>
          <p:nvPr/>
        </p:nvSpPr>
        <p:spPr>
          <a:xfrm>
            <a:off x="3200400" y="3977639"/>
            <a:ext cx="2514600" cy="457200"/>
          </a:xfrm>
          <a:prstGeom prst="rect">
            <a:avLst/>
          </a:prstGeom>
          <a:solidFill>
            <a:srgbClr val="2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46120" y="4023359"/>
            <a:ext cx="2423160" cy="384048"/>
          </a:xfrm>
          <a:prstGeom prst="rect">
            <a:avLst/>
          </a:prstGeom>
          <a:noFill/>
        </p:spPr>
        <p:txBody>
          <a:bodyPr wrap="square">
            <a:spAutoFit/>
          </a:bodyPr>
          <a:lstStyle/>
          <a:p>
            <a:pPr algn="l"/>
            <a:r>
              <a:rPr sz="1000" b="0">
                <a:solidFill>
                  <a:srgbClr val="DA3633"/>
                </a:solidFill>
              </a:rPr>
              <a:t>Baseline</a:t>
            </a:r>
          </a:p>
        </p:txBody>
      </p:sp>
      <p:sp>
        <p:nvSpPr>
          <p:cNvPr id="56" name="Rectangle 55"/>
          <p:cNvSpPr/>
          <p:nvPr/>
        </p:nvSpPr>
        <p:spPr>
          <a:xfrm>
            <a:off x="5760720" y="3977639"/>
            <a:ext cx="2697480" cy="457200"/>
          </a:xfrm>
          <a:prstGeom prst="rect">
            <a:avLst/>
          </a:prstGeom>
          <a:solidFill>
            <a:srgbClr val="0A2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806440" y="4023359"/>
            <a:ext cx="2606040" cy="384048"/>
          </a:xfrm>
          <a:prstGeom prst="rect">
            <a:avLst/>
          </a:prstGeom>
          <a:noFill/>
        </p:spPr>
        <p:txBody>
          <a:bodyPr wrap="square">
            <a:spAutoFit/>
          </a:bodyPr>
          <a:lstStyle/>
          <a:p>
            <a:pPr algn="l"/>
            <a:r>
              <a:rPr sz="1000" b="0">
                <a:solidFill>
                  <a:srgbClr val="2EA043"/>
                </a:solidFill>
              </a:rPr>
              <a:t>−70% (estimate)</a:t>
            </a:r>
          </a:p>
        </p:txBody>
      </p:sp>
      <p:sp>
        <p:nvSpPr>
          <p:cNvPr id="58" name="Rectangle 57"/>
          <p:cNvSpPr/>
          <p:nvPr/>
        </p:nvSpPr>
        <p:spPr>
          <a:xfrm>
            <a:off x="8503920" y="3977639"/>
            <a:ext cx="3154680" cy="45720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549640" y="4023359"/>
            <a:ext cx="3063240" cy="384048"/>
          </a:xfrm>
          <a:prstGeom prst="rect">
            <a:avLst/>
          </a:prstGeom>
          <a:noFill/>
        </p:spPr>
        <p:txBody>
          <a:bodyPr wrap="square">
            <a:spAutoFit/>
          </a:bodyPr>
          <a:lstStyle/>
          <a:p>
            <a:pPr algn="l"/>
            <a:r>
              <a:rPr sz="1000" b="0">
                <a:solidFill>
                  <a:srgbClr val="388BFD"/>
                </a:solidFill>
              </a:rPr>
              <a:t>IBM Security benchmark</a:t>
            </a:r>
          </a:p>
        </p:txBody>
      </p:sp>
      <p:sp>
        <p:nvSpPr>
          <p:cNvPr id="60" name="TextBox 59"/>
          <p:cNvSpPr txBox="1"/>
          <p:nvPr/>
        </p:nvSpPr>
        <p:spPr>
          <a:xfrm>
            <a:off x="274320" y="6035040"/>
            <a:ext cx="11430000" cy="457200"/>
          </a:xfrm>
          <a:prstGeom prst="rect">
            <a:avLst/>
          </a:prstGeom>
          <a:noFill/>
        </p:spPr>
        <p:txBody>
          <a:bodyPr wrap="square">
            <a:spAutoFit/>
          </a:bodyPr>
          <a:lstStyle/>
          <a:p>
            <a:pPr algn="ctr"/>
            <a:r>
              <a:rPr sz="1300" b="1">
                <a:solidFill>
                  <a:srgbClr val="D29922"/>
                </a:solidFill>
              </a:rPr>
              <a:t>Forrester TEI: 234% ROI over 3 years · Payback in under 6 months (500-developer 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r>
              <a:rPr sz="3200" b="1">
                <a:solidFill>
                  <a:srgbClr val="FFFFFF"/>
                </a:solidFill>
              </a:rPr>
              <a:t>Next Steps: From Demo to Production</a:t>
            </a:r>
          </a:p>
        </p:txBody>
      </p:sp>
      <p:sp>
        <p:nvSpPr>
          <p:cNvPr id="4" name="TextBox 3"/>
          <p:cNvSpPr txBox="1"/>
          <p:nvPr/>
        </p:nvSpPr>
        <p:spPr>
          <a:xfrm>
            <a:off x="457200" y="914400"/>
            <a:ext cx="10972800" cy="365760"/>
          </a:xfrm>
          <a:prstGeom prst="rect">
            <a:avLst/>
          </a:prstGeom>
          <a:noFill/>
        </p:spPr>
        <p:txBody>
          <a:bodyPr wrap="square">
            <a:spAutoFit/>
          </a:bodyPr>
          <a:lstStyle/>
          <a:p>
            <a:pPr algn="l"/>
            <a:r>
              <a:rPr sz="1600" b="0">
                <a:solidFill>
                  <a:srgbClr val="8B949E"/>
                </a:solidFill>
              </a:rPr>
              <a:t>Zero commitment required for any of these — just a conversation</a:t>
            </a:r>
          </a:p>
        </p:txBody>
      </p:sp>
      <p:sp>
        <p:nvSpPr>
          <p:cNvPr id="5" name="Rectangle 4"/>
          <p:cNvSpPr/>
          <p:nvPr/>
        </p:nvSpPr>
        <p:spPr>
          <a:xfrm>
            <a:off x="274320" y="1463040"/>
            <a:ext cx="11612880" cy="105156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457200" cy="105156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783080"/>
            <a:ext cx="365760" cy="411480"/>
          </a:xfrm>
          <a:prstGeom prst="rect">
            <a:avLst/>
          </a:prstGeom>
          <a:noFill/>
        </p:spPr>
        <p:txBody>
          <a:bodyPr wrap="square">
            <a:spAutoFit/>
          </a:bodyPr>
          <a:lstStyle/>
          <a:p>
            <a:pPr algn="ctr"/>
            <a:r>
              <a:rPr sz="1800" b="1">
                <a:solidFill>
                  <a:srgbClr val="FFFFFF"/>
                </a:solidFill>
              </a:rPr>
              <a:t>1</a:t>
            </a:r>
          </a:p>
        </p:txBody>
      </p:sp>
      <p:sp>
        <p:nvSpPr>
          <p:cNvPr id="8" name="TextBox 7"/>
          <p:cNvSpPr txBox="1"/>
          <p:nvPr/>
        </p:nvSpPr>
        <p:spPr>
          <a:xfrm>
            <a:off x="822960" y="1508760"/>
            <a:ext cx="5029200" cy="411480"/>
          </a:xfrm>
          <a:prstGeom prst="rect">
            <a:avLst/>
          </a:prstGeom>
          <a:noFill/>
        </p:spPr>
        <p:txBody>
          <a:bodyPr wrap="square">
            <a:spAutoFit/>
          </a:bodyPr>
          <a:lstStyle/>
          <a:p>
            <a:pPr algn="l"/>
            <a:r>
              <a:rPr sz="1400" b="1">
                <a:solidFill>
                  <a:srgbClr val="1F6FEB"/>
                </a:solidFill>
              </a:rPr>
              <a:t>GHAS Trial — 30 Days</a:t>
            </a:r>
          </a:p>
        </p:txBody>
      </p:sp>
      <p:sp>
        <p:nvSpPr>
          <p:cNvPr id="9" name="TextBox 8"/>
          <p:cNvSpPr txBox="1"/>
          <p:nvPr/>
        </p:nvSpPr>
        <p:spPr>
          <a:xfrm>
            <a:off x="822960" y="1965960"/>
            <a:ext cx="10607040" cy="457200"/>
          </a:xfrm>
          <a:prstGeom prst="rect">
            <a:avLst/>
          </a:prstGeom>
          <a:noFill/>
        </p:spPr>
        <p:txBody>
          <a:bodyPr wrap="square">
            <a:spAutoFit/>
          </a:bodyPr>
          <a:lstStyle/>
          <a:p>
            <a:pPr algn="l"/>
            <a:r>
              <a:rPr sz="1100" b="0">
                <a:solidFill>
                  <a:srgbClr val="8B949E"/>
                </a:solidFill>
              </a:rPr>
              <a:t>Enable GHAS on your most critical API repo. CodeQL + secret scanning + dependency review, live within 1 hour. No infrastructure changes required.</a:t>
            </a:r>
          </a:p>
        </p:txBody>
      </p:sp>
      <p:sp>
        <p:nvSpPr>
          <p:cNvPr id="10" name="Rectangle 9"/>
          <p:cNvSpPr/>
          <p:nvPr/>
        </p:nvSpPr>
        <p:spPr>
          <a:xfrm>
            <a:off x="274320" y="2606040"/>
            <a:ext cx="11612880" cy="105156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2606040"/>
            <a:ext cx="457200" cy="1051560"/>
          </a:xfrm>
          <a:prstGeom prst="rect">
            <a:avLst/>
          </a:prstGeom>
          <a:solidFill>
            <a:srgbClr val="2EA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926080"/>
            <a:ext cx="365760" cy="411480"/>
          </a:xfrm>
          <a:prstGeom prst="rect">
            <a:avLst/>
          </a:prstGeom>
          <a:noFill/>
        </p:spPr>
        <p:txBody>
          <a:bodyPr wrap="square">
            <a:spAutoFit/>
          </a:bodyPr>
          <a:lstStyle/>
          <a:p>
            <a:pPr algn="ctr"/>
            <a:r>
              <a:rPr sz="1800" b="1">
                <a:solidFill>
                  <a:srgbClr val="FFFFFF"/>
                </a:solidFill>
              </a:rPr>
              <a:t>2</a:t>
            </a:r>
          </a:p>
        </p:txBody>
      </p:sp>
      <p:sp>
        <p:nvSpPr>
          <p:cNvPr id="13" name="TextBox 12"/>
          <p:cNvSpPr txBox="1"/>
          <p:nvPr/>
        </p:nvSpPr>
        <p:spPr>
          <a:xfrm>
            <a:off x="822960" y="2651760"/>
            <a:ext cx="5029200" cy="411480"/>
          </a:xfrm>
          <a:prstGeom prst="rect">
            <a:avLst/>
          </a:prstGeom>
          <a:noFill/>
        </p:spPr>
        <p:txBody>
          <a:bodyPr wrap="square">
            <a:spAutoFit/>
          </a:bodyPr>
          <a:lstStyle/>
          <a:p>
            <a:pPr algn="l"/>
            <a:r>
              <a:rPr sz="1400" b="1">
                <a:solidFill>
                  <a:srgbClr val="2EA043"/>
                </a:solidFill>
              </a:rPr>
              <a:t>GitHub Actions Security PoC</a:t>
            </a:r>
          </a:p>
        </p:txBody>
      </p:sp>
      <p:sp>
        <p:nvSpPr>
          <p:cNvPr id="14" name="TextBox 13"/>
          <p:cNvSpPr txBox="1"/>
          <p:nvPr/>
        </p:nvSpPr>
        <p:spPr>
          <a:xfrm>
            <a:off x="822960" y="3108960"/>
            <a:ext cx="10607040" cy="457200"/>
          </a:xfrm>
          <a:prstGeom prst="rect">
            <a:avLst/>
          </a:prstGeom>
          <a:noFill/>
        </p:spPr>
        <p:txBody>
          <a:bodyPr wrap="square">
            <a:spAutoFit/>
          </a:bodyPr>
          <a:lstStyle/>
          <a:p>
            <a:pPr algn="l"/>
            <a:r>
              <a:rPr sz="1100" b="0">
                <a:solidFill>
                  <a:srgbClr val="8B949E"/>
                </a:solidFill>
              </a:rPr>
              <a:t>We adapt the 10 PropTracker security workflows to your actual API endpoints and auth scheme. Delivered in 1 sprint.</a:t>
            </a:r>
          </a:p>
        </p:txBody>
      </p:sp>
      <p:sp>
        <p:nvSpPr>
          <p:cNvPr id="15" name="Rectangle 14"/>
          <p:cNvSpPr/>
          <p:nvPr/>
        </p:nvSpPr>
        <p:spPr>
          <a:xfrm>
            <a:off x="274320" y="3749039"/>
            <a:ext cx="11612880" cy="105156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3749039"/>
            <a:ext cx="457200" cy="1051560"/>
          </a:xfrm>
          <a:prstGeom prst="rect">
            <a:avLst/>
          </a:prstGeom>
          <a:solidFill>
            <a:srgbClr val="D299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4069079"/>
            <a:ext cx="365760" cy="411480"/>
          </a:xfrm>
          <a:prstGeom prst="rect">
            <a:avLst/>
          </a:prstGeom>
          <a:noFill/>
        </p:spPr>
        <p:txBody>
          <a:bodyPr wrap="square">
            <a:spAutoFit/>
          </a:bodyPr>
          <a:lstStyle/>
          <a:p>
            <a:pPr algn="ctr"/>
            <a:r>
              <a:rPr sz="1800" b="1">
                <a:solidFill>
                  <a:srgbClr val="FFFFFF"/>
                </a:solidFill>
              </a:rPr>
              <a:t>3</a:t>
            </a:r>
          </a:p>
        </p:txBody>
      </p:sp>
      <p:sp>
        <p:nvSpPr>
          <p:cNvPr id="18" name="TextBox 17"/>
          <p:cNvSpPr txBox="1"/>
          <p:nvPr/>
        </p:nvSpPr>
        <p:spPr>
          <a:xfrm>
            <a:off x="822960" y="3794759"/>
            <a:ext cx="5029200" cy="411480"/>
          </a:xfrm>
          <a:prstGeom prst="rect">
            <a:avLst/>
          </a:prstGeom>
          <a:noFill/>
        </p:spPr>
        <p:txBody>
          <a:bodyPr wrap="square">
            <a:spAutoFit/>
          </a:bodyPr>
          <a:lstStyle/>
          <a:p>
            <a:pPr algn="l"/>
            <a:r>
              <a:rPr sz="1400" b="1">
                <a:solidFill>
                  <a:srgbClr val="D29922"/>
                </a:solidFill>
              </a:rPr>
              <a:t>Security Posture Assessment</a:t>
            </a:r>
          </a:p>
        </p:txBody>
      </p:sp>
      <p:sp>
        <p:nvSpPr>
          <p:cNvPr id="19" name="TextBox 18"/>
          <p:cNvSpPr txBox="1"/>
          <p:nvPr/>
        </p:nvSpPr>
        <p:spPr>
          <a:xfrm>
            <a:off x="822960" y="4251959"/>
            <a:ext cx="10607040" cy="457200"/>
          </a:xfrm>
          <a:prstGeom prst="rect">
            <a:avLst/>
          </a:prstGeom>
          <a:noFill/>
        </p:spPr>
        <p:txBody>
          <a:bodyPr wrap="square">
            <a:spAutoFit/>
          </a:bodyPr>
          <a:lstStyle/>
          <a:p>
            <a:pPr algn="l"/>
            <a:r>
              <a:rPr sz="1100" b="0">
                <a:solidFill>
                  <a:srgbClr val="8B949E"/>
                </a:solidFill>
              </a:rPr>
              <a:t>GitHub's SA team reviews your current repos and produces a vulnerability density report — what would GHAS have caught in the last 6 months?</a:t>
            </a:r>
          </a:p>
        </p:txBody>
      </p:sp>
      <p:sp>
        <p:nvSpPr>
          <p:cNvPr id="20" name="Rectangle 19"/>
          <p:cNvSpPr/>
          <p:nvPr/>
        </p:nvSpPr>
        <p:spPr>
          <a:xfrm>
            <a:off x="274320" y="4892040"/>
            <a:ext cx="11612880" cy="105156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4892040"/>
            <a:ext cx="457200" cy="1051560"/>
          </a:xfrm>
          <a:prstGeom prst="rect">
            <a:avLst/>
          </a:prstGeom>
          <a:solidFill>
            <a:srgbClr val="8957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5212079"/>
            <a:ext cx="365760" cy="411480"/>
          </a:xfrm>
          <a:prstGeom prst="rect">
            <a:avLst/>
          </a:prstGeom>
          <a:noFill/>
        </p:spPr>
        <p:txBody>
          <a:bodyPr wrap="square">
            <a:spAutoFit/>
          </a:bodyPr>
          <a:lstStyle/>
          <a:p>
            <a:pPr algn="ctr"/>
            <a:r>
              <a:rPr sz="1800" b="1">
                <a:solidFill>
                  <a:srgbClr val="FFFFFF"/>
                </a:solidFill>
              </a:rPr>
              <a:t>4</a:t>
            </a:r>
          </a:p>
        </p:txBody>
      </p:sp>
      <p:sp>
        <p:nvSpPr>
          <p:cNvPr id="23" name="TextBox 22"/>
          <p:cNvSpPr txBox="1"/>
          <p:nvPr/>
        </p:nvSpPr>
        <p:spPr>
          <a:xfrm>
            <a:off x="822960" y="4937759"/>
            <a:ext cx="5029200" cy="411480"/>
          </a:xfrm>
          <a:prstGeom prst="rect">
            <a:avLst/>
          </a:prstGeom>
          <a:noFill/>
        </p:spPr>
        <p:txBody>
          <a:bodyPr wrap="square">
            <a:spAutoFit/>
          </a:bodyPr>
          <a:lstStyle/>
          <a:p>
            <a:pPr algn="l"/>
            <a:r>
              <a:rPr sz="1400" b="1">
                <a:solidFill>
                  <a:srgbClr val="8957E5"/>
                </a:solidFill>
              </a:rPr>
              <a:t>Copilot for Business Trial</a:t>
            </a:r>
          </a:p>
        </p:txBody>
      </p:sp>
      <p:sp>
        <p:nvSpPr>
          <p:cNvPr id="24" name="TextBox 23"/>
          <p:cNvSpPr txBox="1"/>
          <p:nvPr/>
        </p:nvSpPr>
        <p:spPr>
          <a:xfrm>
            <a:off x="822960" y="5394959"/>
            <a:ext cx="10607040" cy="457200"/>
          </a:xfrm>
          <a:prstGeom prst="rect">
            <a:avLst/>
          </a:prstGeom>
          <a:noFill/>
        </p:spPr>
        <p:txBody>
          <a:bodyPr wrap="square">
            <a:spAutoFit/>
          </a:bodyPr>
          <a:lstStyle/>
          <a:p>
            <a:pPr algn="l"/>
            <a:r>
              <a:rPr sz="1100" b="0">
                <a:solidFill>
                  <a:srgbClr val="8B949E"/>
                </a:solidFill>
              </a:rPr>
              <a:t>2-week free trial for your entire development team. Copilot in the editor + Copilot Autofix for security alerts.</a:t>
            </a:r>
          </a:p>
        </p:txBody>
      </p:sp>
      <p:sp>
        <p:nvSpPr>
          <p:cNvPr id="25" name="TextBox 24"/>
          <p:cNvSpPr txBox="1"/>
          <p:nvPr/>
        </p:nvSpPr>
        <p:spPr>
          <a:xfrm>
            <a:off x="274320" y="6035040"/>
            <a:ext cx="11612880" cy="457200"/>
          </a:xfrm>
          <a:prstGeom prst="rect">
            <a:avLst/>
          </a:prstGeom>
          <a:noFill/>
        </p:spPr>
        <p:txBody>
          <a:bodyPr wrap="square">
            <a:spAutoFit/>
          </a:bodyPr>
          <a:lstStyle/>
          <a:p>
            <a:pPr algn="ctr"/>
            <a:r>
              <a:rPr sz="1300" b="1">
                <a:solidFill>
                  <a:srgbClr val="388BFD"/>
                </a:solidFill>
              </a:rPr>
              <a:t>The gap between your current API security posture and GitHub's automated protection is one conversation away from closing.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